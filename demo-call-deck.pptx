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1F"/>
        </a:solidFill>
      </p:bgPr>
    </p:bg>
    <p:spTree>
      <p:nvGrpSpPr>
        <p:cNvPr id="1" name=""/>
        <p:cNvGrpSpPr/>
        <p:nvPr/>
      </p:nvGrpSpPr>
      <p:grpSpPr>
        <a:xfrm>
          <a:off x="0" y="0"/>
          <a:ext cx="0" cy="0"/>
          <a:chOff x="0" y="0"/>
          <a:chExt cx="0" cy="0"/>
        </a:xfrm>
      </p:grpSpPr>
      <p:sp>
        <p:nvSpPr>
          <p:cNvPr id="2" name="Shape 0"/>
          <p:cNvSpPr/>
          <p:nvPr/>
        </p:nvSpPr>
        <p:spPr>
          <a:xfrm>
            <a:off x="0" y="3017520"/>
            <a:ext cx="12161520" cy="25603"/>
          </a:xfrm>
          <a:prstGeom prst="rect">
            <a:avLst/>
          </a:prstGeom>
          <a:solidFill>
            <a:srgbClr val="F5B942"/>
          </a:solidFill>
          <a:ln/>
        </p:spPr>
      </p:sp>
      <p:sp>
        <p:nvSpPr>
          <p:cNvPr id="3" name="Text 1"/>
          <p:cNvSpPr/>
          <p:nvPr/>
        </p:nvSpPr>
        <p:spPr>
          <a:xfrm>
            <a:off x="548640" y="1828800"/>
            <a:ext cx="11064240" cy="822960"/>
          </a:xfrm>
          <a:prstGeom prst="rect">
            <a:avLst/>
          </a:prstGeom>
          <a:noFill/>
          <a:ln/>
        </p:spPr>
        <p:txBody>
          <a:bodyPr wrap="square" rtlCol="0" anchor="ctr"/>
          <a:lstStyle/>
          <a:p>
            <a:pPr algn="ctr" indent="0" marL="0">
              <a:buNone/>
            </a:pPr>
            <a:r>
              <a:rPr lang="en-US" sz="4800" b="1" dirty="0">
                <a:solidFill>
                  <a:srgbClr val="E8E8F2"/>
                </a:solidFill>
                <a:latin typeface="Arial" pitchFamily="34" charset="0"/>
                <a:ea typeface="Arial" pitchFamily="34" charset="-122"/>
                <a:cs typeface="Arial" pitchFamily="34" charset="-120"/>
              </a:rPr>
              <a:t>THE DEMO CALL DECK</a:t>
            </a:r>
            <a:endParaRPr lang="en-US" sz="4800" dirty="0"/>
          </a:p>
        </p:txBody>
      </p:sp>
      <p:sp>
        <p:nvSpPr>
          <p:cNvPr id="4" name="Text 2"/>
          <p:cNvSpPr/>
          <p:nvPr/>
        </p:nvSpPr>
        <p:spPr>
          <a:xfrm>
            <a:off x="548640" y="3200400"/>
            <a:ext cx="11064240" cy="457200"/>
          </a:xfrm>
          <a:prstGeom prst="rect">
            <a:avLst/>
          </a:prstGeom>
          <a:noFill/>
          <a:ln/>
        </p:spPr>
        <p:txBody>
          <a:bodyPr wrap="square" rtlCol="0" anchor="ctr"/>
          <a:lstStyle/>
          <a:p>
            <a:pPr algn="ctr" indent="0" marL="0">
              <a:buNone/>
            </a:pPr>
            <a:r>
              <a:rPr lang="en-US" sz="1700" i="1" dirty="0">
                <a:solidFill>
                  <a:srgbClr val="F5B942"/>
                </a:solidFill>
                <a:latin typeface="Arial" pitchFamily="34" charset="0"/>
                <a:ea typeface="Arial" pitchFamily="34" charset="-122"/>
                <a:cs typeface="Arial" pitchFamily="34" charset="-120"/>
              </a:rPr>
              <a:t>A blank template. Build your own closing presentation on this skeleton.</a:t>
            </a:r>
            <a:endParaRPr lang="en-US" sz="1700" dirty="0"/>
          </a:p>
        </p:txBody>
      </p:sp>
      <p:sp>
        <p:nvSpPr>
          <p:cNvPr id="5" name="Text 3"/>
          <p:cNvSpPr/>
          <p:nvPr/>
        </p:nvSpPr>
        <p:spPr>
          <a:xfrm>
            <a:off x="1965960" y="4023360"/>
            <a:ext cx="8229600" cy="1280160"/>
          </a:xfrm>
          <a:prstGeom prst="rect">
            <a:avLst/>
          </a:prstGeom>
          <a:noFill/>
          <a:ln/>
        </p:spPr>
        <p:txBody>
          <a:bodyPr wrap="square" rtlCol="0" anchor="ctr"/>
          <a:lstStyle/>
          <a:p>
            <a:pPr algn="ctr" indent="0" marL="0">
              <a:buNone/>
            </a:pPr>
            <a:r>
              <a:rPr lang="en-US" sz="1300" dirty="0">
                <a:solidFill>
                  <a:srgbClr val="9A9AB0"/>
                </a:solidFill>
                <a:latin typeface="Arial" pitchFamily="34" charset="0"/>
                <a:ea typeface="Arial" pitchFamily="34" charset="-122"/>
                <a:cs typeface="Arial" pitchFamily="34" charset="-120"/>
              </a:rPr>
              <a:t>This is the proven structure of a high-converting demo call, slide by slide. Every slide tells you what it is for and what goes on it. Replace every [bracket] with your own offer, your own proof, your own numbers. Do not skip slides. The order is the persuasion.</a:t>
            </a:r>
            <a:endParaRPr lang="en-US" sz="1300" dirty="0"/>
          </a:p>
        </p:txBody>
      </p:sp>
      <p:sp>
        <p:nvSpPr>
          <p:cNvPr id="6" name="Text 4"/>
          <p:cNvSpPr/>
          <p:nvPr/>
        </p:nvSpPr>
        <p:spPr>
          <a:xfrm>
            <a:off x="548640" y="6309360"/>
            <a:ext cx="11064240" cy="274320"/>
          </a:xfrm>
          <a:prstGeom prst="rect">
            <a:avLst/>
          </a:prstGeom>
          <a:noFill/>
          <a:ln/>
        </p:spPr>
        <p:txBody>
          <a:bodyPr wrap="square" rtlCol="0" anchor="ctr"/>
          <a:lstStyle/>
          <a:p>
            <a:pPr algn="ctr" indent="0" marL="0">
              <a:buNone/>
            </a:pPr>
            <a:r>
              <a:rPr lang="en-US" sz="1000" spc="200" kern="0" dirty="0">
                <a:solidFill>
                  <a:srgbClr val="55556A"/>
                </a:solidFill>
                <a:latin typeface="Arial" pitchFamily="34" charset="0"/>
                <a:ea typeface="Arial" pitchFamily="34" charset="-122"/>
                <a:cs typeface="Arial" pitchFamily="34" charset="-120"/>
              </a:rPr>
              <a:t>TEU  ·  THE ENTREPRENEURSHIP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457200"/>
            <a:ext cx="10972800" cy="548640"/>
          </a:xfrm>
          <a:prstGeom prst="rect">
            <a:avLst/>
          </a:prstGeom>
          <a:noFill/>
          <a:ln/>
        </p:spPr>
        <p:txBody>
          <a:bodyPr wrap="square" rtlCol="0" anchor="ctr"/>
          <a:lstStyle/>
          <a:p>
            <a:pPr indent="0" marL="0">
              <a:buNone/>
            </a:pPr>
            <a:r>
              <a:rPr lang="en-US" sz="2600" b="1" dirty="0">
                <a:solidFill>
                  <a:srgbClr val="E8E8F2"/>
                </a:solidFill>
                <a:latin typeface="Arial" pitchFamily="34" charset="0"/>
                <a:ea typeface="Arial" pitchFamily="34" charset="-122"/>
                <a:cs typeface="Arial" pitchFamily="34" charset="-120"/>
              </a:rPr>
              <a:t>How to use this template</a:t>
            </a:r>
            <a:endParaRPr lang="en-US" sz="2600" dirty="0"/>
          </a:p>
        </p:txBody>
      </p:sp>
      <p:sp>
        <p:nvSpPr>
          <p:cNvPr id="3" name="Shape 1"/>
          <p:cNvSpPr/>
          <p:nvPr/>
        </p:nvSpPr>
        <p:spPr>
          <a:xfrm>
            <a:off x="548640" y="1097280"/>
            <a:ext cx="2926080" cy="27432"/>
          </a:xfrm>
          <a:prstGeom prst="rect">
            <a:avLst/>
          </a:prstGeom>
          <a:solidFill>
            <a:srgbClr val="F5B942"/>
          </a:solidFill>
          <a:ln/>
        </p:spPr>
      </p:sp>
      <p:sp>
        <p:nvSpPr>
          <p:cNvPr id="4" name="Shape 2"/>
          <p:cNvSpPr/>
          <p:nvPr/>
        </p:nvSpPr>
        <p:spPr>
          <a:xfrm>
            <a:off x="594360" y="1417320"/>
            <a:ext cx="457200" cy="457200"/>
          </a:xfrm>
          <a:prstGeom prst="ellipse">
            <a:avLst/>
          </a:prstGeom>
          <a:solidFill>
            <a:srgbClr val="1A1A2E"/>
          </a:solidFill>
          <a:ln w="19050">
            <a:solidFill>
              <a:srgbClr val="F5B942"/>
            </a:solidFill>
            <a:prstDash val="solid"/>
          </a:ln>
        </p:spPr>
      </p:sp>
      <p:sp>
        <p:nvSpPr>
          <p:cNvPr id="5" name="Text 3"/>
          <p:cNvSpPr/>
          <p:nvPr/>
        </p:nvSpPr>
        <p:spPr>
          <a:xfrm>
            <a:off x="594360" y="1417320"/>
            <a:ext cx="457200" cy="457200"/>
          </a:xfrm>
          <a:prstGeom prst="rect">
            <a:avLst/>
          </a:prstGeom>
          <a:noFill/>
          <a:ln/>
        </p:spPr>
        <p:txBody>
          <a:bodyPr wrap="square" lIns="0" tIns="0" rIns="0" bIns="0" rtlCol="0" anchor="ctr"/>
          <a:lstStyle/>
          <a:p>
            <a:pPr algn="ctr" indent="0" marL="0">
              <a:buNone/>
            </a:pPr>
            <a:r>
              <a:rPr lang="en-US" sz="1600" b="1" dirty="0">
                <a:solidFill>
                  <a:srgbClr val="F5B942"/>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1280160" y="1399032"/>
            <a:ext cx="10241280" cy="365760"/>
          </a:xfrm>
          <a:prstGeom prst="rect">
            <a:avLst/>
          </a:prstGeom>
          <a:noFill/>
          <a:ln/>
        </p:spPr>
        <p:txBody>
          <a:bodyPr wrap="square" lIns="0" tIns="0" rIns="0" bIns="0" rtlCol="0" anchor="ctr"/>
          <a:lstStyle/>
          <a:p>
            <a:pPr indent="0" marL="0">
              <a:buNone/>
            </a:pPr>
            <a:r>
              <a:rPr lang="en-US" sz="1600" b="1" dirty="0">
                <a:solidFill>
                  <a:srgbClr val="E8E8F2"/>
                </a:solidFill>
                <a:latin typeface="Arial" pitchFamily="34" charset="0"/>
                <a:ea typeface="Arial" pitchFamily="34" charset="-122"/>
                <a:cs typeface="Arial" pitchFamily="34" charset="-120"/>
              </a:rPr>
              <a:t>Every [blue bracket] is yours to fill.</a:t>
            </a:r>
            <a:endParaRPr lang="en-US" sz="1600" dirty="0"/>
          </a:p>
        </p:txBody>
      </p:sp>
      <p:sp>
        <p:nvSpPr>
          <p:cNvPr id="7" name="Text 5"/>
          <p:cNvSpPr/>
          <p:nvPr/>
        </p:nvSpPr>
        <p:spPr>
          <a:xfrm>
            <a:off x="1280160" y="1746504"/>
            <a:ext cx="10241280" cy="548640"/>
          </a:xfrm>
          <a:prstGeom prst="rect">
            <a:avLst/>
          </a:prstGeom>
          <a:noFill/>
          <a:ln/>
        </p:spPr>
        <p:txBody>
          <a:bodyPr wrap="square" lIns="0" tIns="0" rIns="0" bIns="0" rtlCol="0" anchor="ctr"/>
          <a:lstStyle/>
          <a:p>
            <a:pPr indent="0" marL="0">
              <a:buNone/>
            </a:pPr>
            <a:r>
              <a:rPr lang="en-US" sz="1250" i="1" dirty="0">
                <a:solidFill>
                  <a:srgbClr val="9A9AB0"/>
                </a:solidFill>
                <a:latin typeface="Arial" pitchFamily="34" charset="0"/>
                <a:ea typeface="Arial" pitchFamily="34" charset="-122"/>
                <a:cs typeface="Arial" pitchFamily="34" charset="-120"/>
              </a:rPr>
              <a:t>Swap it for your real outcome, your client, your number, your price. Nothing here is meant to stay as written.</a:t>
            </a:r>
            <a:endParaRPr lang="en-US" sz="1250" dirty="0"/>
          </a:p>
        </p:txBody>
      </p:sp>
      <p:sp>
        <p:nvSpPr>
          <p:cNvPr id="8" name="Shape 6"/>
          <p:cNvSpPr/>
          <p:nvPr/>
        </p:nvSpPr>
        <p:spPr>
          <a:xfrm>
            <a:off x="594360" y="2350008"/>
            <a:ext cx="457200" cy="457200"/>
          </a:xfrm>
          <a:prstGeom prst="ellipse">
            <a:avLst/>
          </a:prstGeom>
          <a:solidFill>
            <a:srgbClr val="1A1A2E"/>
          </a:solidFill>
          <a:ln w="19050">
            <a:solidFill>
              <a:srgbClr val="F5B942"/>
            </a:solidFill>
            <a:prstDash val="solid"/>
          </a:ln>
        </p:spPr>
      </p:sp>
      <p:sp>
        <p:nvSpPr>
          <p:cNvPr id="9" name="Text 7"/>
          <p:cNvSpPr/>
          <p:nvPr/>
        </p:nvSpPr>
        <p:spPr>
          <a:xfrm>
            <a:off x="594360" y="2350008"/>
            <a:ext cx="457200" cy="457200"/>
          </a:xfrm>
          <a:prstGeom prst="rect">
            <a:avLst/>
          </a:prstGeom>
          <a:noFill/>
          <a:ln/>
        </p:spPr>
        <p:txBody>
          <a:bodyPr wrap="square" lIns="0" tIns="0" rIns="0" bIns="0" rtlCol="0" anchor="ctr"/>
          <a:lstStyle/>
          <a:p>
            <a:pPr algn="ctr" indent="0" marL="0">
              <a:buNone/>
            </a:pPr>
            <a:r>
              <a:rPr lang="en-US" sz="1600" b="1" dirty="0">
                <a:solidFill>
                  <a:srgbClr val="F5B942"/>
                </a:solidFill>
                <a:latin typeface="Arial" pitchFamily="34" charset="0"/>
                <a:ea typeface="Arial" pitchFamily="34" charset="-122"/>
                <a:cs typeface="Arial" pitchFamily="34" charset="-120"/>
              </a:rPr>
              <a:t>2</a:t>
            </a:r>
            <a:endParaRPr lang="en-US" sz="1600" dirty="0"/>
          </a:p>
        </p:txBody>
      </p:sp>
      <p:sp>
        <p:nvSpPr>
          <p:cNvPr id="10" name="Text 8"/>
          <p:cNvSpPr/>
          <p:nvPr/>
        </p:nvSpPr>
        <p:spPr>
          <a:xfrm>
            <a:off x="1280160" y="2331720"/>
            <a:ext cx="10241280" cy="365760"/>
          </a:xfrm>
          <a:prstGeom prst="rect">
            <a:avLst/>
          </a:prstGeom>
          <a:noFill/>
          <a:ln/>
        </p:spPr>
        <p:txBody>
          <a:bodyPr wrap="square" lIns="0" tIns="0" rIns="0" bIns="0" rtlCol="0" anchor="ctr"/>
          <a:lstStyle/>
          <a:p>
            <a:pPr indent="0" marL="0">
              <a:buNone/>
            </a:pPr>
            <a:r>
              <a:rPr lang="en-US" sz="1600" b="1" dirty="0">
                <a:solidFill>
                  <a:srgbClr val="E8E8F2"/>
                </a:solidFill>
                <a:latin typeface="Arial" pitchFamily="34" charset="0"/>
                <a:ea typeface="Arial" pitchFamily="34" charset="-122"/>
                <a:cs typeface="Arial" pitchFamily="34" charset="-120"/>
              </a:rPr>
              <a:t>The grey italic text is your instruction.</a:t>
            </a:r>
            <a:endParaRPr lang="en-US" sz="1600" dirty="0"/>
          </a:p>
        </p:txBody>
      </p:sp>
      <p:sp>
        <p:nvSpPr>
          <p:cNvPr id="11" name="Text 9"/>
          <p:cNvSpPr/>
          <p:nvPr/>
        </p:nvSpPr>
        <p:spPr>
          <a:xfrm>
            <a:off x="1280160" y="2679192"/>
            <a:ext cx="10241280" cy="548640"/>
          </a:xfrm>
          <a:prstGeom prst="rect">
            <a:avLst/>
          </a:prstGeom>
          <a:noFill/>
          <a:ln/>
        </p:spPr>
        <p:txBody>
          <a:bodyPr wrap="square" lIns="0" tIns="0" rIns="0" bIns="0" rtlCol="0" anchor="ctr"/>
          <a:lstStyle/>
          <a:p>
            <a:pPr indent="0" marL="0">
              <a:buNone/>
            </a:pPr>
            <a:r>
              <a:rPr lang="en-US" sz="1250" i="1" dirty="0">
                <a:solidFill>
                  <a:srgbClr val="9A9AB0"/>
                </a:solidFill>
                <a:latin typeface="Arial" pitchFamily="34" charset="0"/>
                <a:ea typeface="Arial" pitchFamily="34" charset="-122"/>
                <a:cs typeface="Arial" pitchFamily="34" charset="-120"/>
              </a:rPr>
              <a:t>It tells you what the slide must accomplish. Delete it once you have written your version.</a:t>
            </a:r>
            <a:endParaRPr lang="en-US" sz="1250" dirty="0"/>
          </a:p>
        </p:txBody>
      </p:sp>
      <p:sp>
        <p:nvSpPr>
          <p:cNvPr id="12" name="Shape 10"/>
          <p:cNvSpPr/>
          <p:nvPr/>
        </p:nvSpPr>
        <p:spPr>
          <a:xfrm>
            <a:off x="594360" y="3282696"/>
            <a:ext cx="457200" cy="457200"/>
          </a:xfrm>
          <a:prstGeom prst="ellipse">
            <a:avLst/>
          </a:prstGeom>
          <a:solidFill>
            <a:srgbClr val="1A1A2E"/>
          </a:solidFill>
          <a:ln w="19050">
            <a:solidFill>
              <a:srgbClr val="F5B942"/>
            </a:solidFill>
            <a:prstDash val="solid"/>
          </a:ln>
        </p:spPr>
      </p:sp>
      <p:sp>
        <p:nvSpPr>
          <p:cNvPr id="13" name="Text 11"/>
          <p:cNvSpPr/>
          <p:nvPr/>
        </p:nvSpPr>
        <p:spPr>
          <a:xfrm>
            <a:off x="594360" y="3282696"/>
            <a:ext cx="457200" cy="457200"/>
          </a:xfrm>
          <a:prstGeom prst="rect">
            <a:avLst/>
          </a:prstGeom>
          <a:noFill/>
          <a:ln/>
        </p:spPr>
        <p:txBody>
          <a:bodyPr wrap="square" lIns="0" tIns="0" rIns="0" bIns="0" rtlCol="0" anchor="ctr"/>
          <a:lstStyle/>
          <a:p>
            <a:pPr algn="ctr" indent="0" marL="0">
              <a:buNone/>
            </a:pPr>
            <a:r>
              <a:rPr lang="en-US" sz="1600" b="1" dirty="0">
                <a:solidFill>
                  <a:srgbClr val="F5B942"/>
                </a:solidFill>
                <a:latin typeface="Arial" pitchFamily="34" charset="0"/>
                <a:ea typeface="Arial" pitchFamily="34" charset="-122"/>
                <a:cs typeface="Arial" pitchFamily="34" charset="-120"/>
              </a:rPr>
              <a:t>3</a:t>
            </a:r>
            <a:endParaRPr lang="en-US" sz="1600" dirty="0"/>
          </a:p>
        </p:txBody>
      </p:sp>
      <p:sp>
        <p:nvSpPr>
          <p:cNvPr id="14" name="Text 12"/>
          <p:cNvSpPr/>
          <p:nvPr/>
        </p:nvSpPr>
        <p:spPr>
          <a:xfrm>
            <a:off x="1280160" y="3264408"/>
            <a:ext cx="10241280" cy="365760"/>
          </a:xfrm>
          <a:prstGeom prst="rect">
            <a:avLst/>
          </a:prstGeom>
          <a:noFill/>
          <a:ln/>
        </p:spPr>
        <p:txBody>
          <a:bodyPr wrap="square" lIns="0" tIns="0" rIns="0" bIns="0" rtlCol="0" anchor="ctr"/>
          <a:lstStyle/>
          <a:p>
            <a:pPr indent="0" marL="0">
              <a:buNone/>
            </a:pPr>
            <a:r>
              <a:rPr lang="en-US" sz="1600" b="1" dirty="0">
                <a:solidFill>
                  <a:srgbClr val="E8E8F2"/>
                </a:solidFill>
                <a:latin typeface="Arial" pitchFamily="34" charset="0"/>
                <a:ea typeface="Arial" pitchFamily="34" charset="-122"/>
                <a:cs typeface="Arial" pitchFamily="34" charset="-120"/>
              </a:rPr>
              <a:t>Do not reorder or skip.</a:t>
            </a:r>
            <a:endParaRPr lang="en-US" sz="1600" dirty="0"/>
          </a:p>
        </p:txBody>
      </p:sp>
      <p:sp>
        <p:nvSpPr>
          <p:cNvPr id="15" name="Text 13"/>
          <p:cNvSpPr/>
          <p:nvPr/>
        </p:nvSpPr>
        <p:spPr>
          <a:xfrm>
            <a:off x="1280160" y="3611880"/>
            <a:ext cx="10241280" cy="548640"/>
          </a:xfrm>
          <a:prstGeom prst="rect">
            <a:avLst/>
          </a:prstGeom>
          <a:noFill/>
          <a:ln/>
        </p:spPr>
        <p:txBody>
          <a:bodyPr wrap="square" lIns="0" tIns="0" rIns="0" bIns="0" rtlCol="0" anchor="ctr"/>
          <a:lstStyle/>
          <a:p>
            <a:pPr indent="0" marL="0">
              <a:buNone/>
            </a:pPr>
            <a:r>
              <a:rPr lang="en-US" sz="1250" i="1" dirty="0">
                <a:solidFill>
                  <a:srgbClr val="9A9AB0"/>
                </a:solidFill>
                <a:latin typeface="Arial" pitchFamily="34" charset="0"/>
                <a:ea typeface="Arial" pitchFamily="34" charset="-122"/>
                <a:cs typeface="Arial" pitchFamily="34" charset="-120"/>
              </a:rPr>
              <a:t>The sequence is the close: promise, method, proof, story, mechanism, trial close, more proof, offer, bonus, risk reversal, ask. Each slide sets up the next.</a:t>
            </a:r>
            <a:endParaRPr lang="en-US" sz="1250" dirty="0"/>
          </a:p>
        </p:txBody>
      </p:sp>
      <p:sp>
        <p:nvSpPr>
          <p:cNvPr id="16" name="Shape 14"/>
          <p:cNvSpPr/>
          <p:nvPr/>
        </p:nvSpPr>
        <p:spPr>
          <a:xfrm>
            <a:off x="594360" y="4215384"/>
            <a:ext cx="457200" cy="457200"/>
          </a:xfrm>
          <a:prstGeom prst="ellipse">
            <a:avLst/>
          </a:prstGeom>
          <a:solidFill>
            <a:srgbClr val="1A1A2E"/>
          </a:solidFill>
          <a:ln w="19050">
            <a:solidFill>
              <a:srgbClr val="F5B942"/>
            </a:solidFill>
            <a:prstDash val="solid"/>
          </a:ln>
        </p:spPr>
      </p:sp>
      <p:sp>
        <p:nvSpPr>
          <p:cNvPr id="17" name="Text 15"/>
          <p:cNvSpPr/>
          <p:nvPr/>
        </p:nvSpPr>
        <p:spPr>
          <a:xfrm>
            <a:off x="594360" y="4215384"/>
            <a:ext cx="457200" cy="457200"/>
          </a:xfrm>
          <a:prstGeom prst="rect">
            <a:avLst/>
          </a:prstGeom>
          <a:noFill/>
          <a:ln/>
        </p:spPr>
        <p:txBody>
          <a:bodyPr wrap="square" lIns="0" tIns="0" rIns="0" bIns="0" rtlCol="0" anchor="ctr"/>
          <a:lstStyle/>
          <a:p>
            <a:pPr algn="ctr" indent="0" marL="0">
              <a:buNone/>
            </a:pPr>
            <a:r>
              <a:rPr lang="en-US" sz="1600" b="1" dirty="0">
                <a:solidFill>
                  <a:srgbClr val="F5B942"/>
                </a:solidFill>
                <a:latin typeface="Arial" pitchFamily="34" charset="0"/>
                <a:ea typeface="Arial" pitchFamily="34" charset="-122"/>
                <a:cs typeface="Arial" pitchFamily="34" charset="-120"/>
              </a:rPr>
              <a:t>4</a:t>
            </a:r>
            <a:endParaRPr lang="en-US" sz="1600" dirty="0"/>
          </a:p>
        </p:txBody>
      </p:sp>
      <p:sp>
        <p:nvSpPr>
          <p:cNvPr id="18" name="Text 16"/>
          <p:cNvSpPr/>
          <p:nvPr/>
        </p:nvSpPr>
        <p:spPr>
          <a:xfrm>
            <a:off x="1280160" y="4197096"/>
            <a:ext cx="10241280" cy="365760"/>
          </a:xfrm>
          <a:prstGeom prst="rect">
            <a:avLst/>
          </a:prstGeom>
          <a:noFill/>
          <a:ln/>
        </p:spPr>
        <p:txBody>
          <a:bodyPr wrap="square" lIns="0" tIns="0" rIns="0" bIns="0" rtlCol="0" anchor="ctr"/>
          <a:lstStyle/>
          <a:p>
            <a:pPr indent="0" marL="0">
              <a:buNone/>
            </a:pPr>
            <a:r>
              <a:rPr lang="en-US" sz="1600" b="1" dirty="0">
                <a:solidFill>
                  <a:srgbClr val="E8E8F2"/>
                </a:solidFill>
                <a:latin typeface="Arial" pitchFamily="34" charset="0"/>
                <a:ea typeface="Arial" pitchFamily="34" charset="-122"/>
                <a:cs typeface="Arial" pitchFamily="34" charset="-120"/>
              </a:rPr>
              <a:t>One idea per slide.</a:t>
            </a:r>
            <a:endParaRPr lang="en-US" sz="1600" dirty="0"/>
          </a:p>
        </p:txBody>
      </p:sp>
      <p:sp>
        <p:nvSpPr>
          <p:cNvPr id="19" name="Text 17"/>
          <p:cNvSpPr/>
          <p:nvPr/>
        </p:nvSpPr>
        <p:spPr>
          <a:xfrm>
            <a:off x="1280160" y="4544568"/>
            <a:ext cx="10241280" cy="548640"/>
          </a:xfrm>
          <a:prstGeom prst="rect">
            <a:avLst/>
          </a:prstGeom>
          <a:noFill/>
          <a:ln/>
        </p:spPr>
        <p:txBody>
          <a:bodyPr wrap="square" lIns="0" tIns="0" rIns="0" bIns="0" rtlCol="0" anchor="ctr"/>
          <a:lstStyle/>
          <a:p>
            <a:pPr indent="0" marL="0">
              <a:buNone/>
            </a:pPr>
            <a:r>
              <a:rPr lang="en-US" sz="1250" i="1" dirty="0">
                <a:solidFill>
                  <a:srgbClr val="9A9AB0"/>
                </a:solidFill>
                <a:latin typeface="Arial" pitchFamily="34" charset="0"/>
                <a:ea typeface="Arial" pitchFamily="34" charset="-122"/>
                <a:cs typeface="Arial" pitchFamily="34" charset="-120"/>
              </a:rPr>
              <a:t>If a slide is getting crowded, split it. Simple slides close better than busy ones.</a:t>
            </a:r>
            <a:endParaRPr lang="en-US" sz="1250" dirty="0"/>
          </a:p>
        </p:txBody>
      </p:sp>
      <p:sp>
        <p:nvSpPr>
          <p:cNvPr id="20" name="Shape 18"/>
          <p:cNvSpPr/>
          <p:nvPr/>
        </p:nvSpPr>
        <p:spPr>
          <a:xfrm>
            <a:off x="594360" y="5148072"/>
            <a:ext cx="457200" cy="457200"/>
          </a:xfrm>
          <a:prstGeom prst="ellipse">
            <a:avLst/>
          </a:prstGeom>
          <a:solidFill>
            <a:srgbClr val="1A1A2E"/>
          </a:solidFill>
          <a:ln w="19050">
            <a:solidFill>
              <a:srgbClr val="F5B942"/>
            </a:solidFill>
            <a:prstDash val="solid"/>
          </a:ln>
        </p:spPr>
      </p:sp>
      <p:sp>
        <p:nvSpPr>
          <p:cNvPr id="21" name="Text 19"/>
          <p:cNvSpPr/>
          <p:nvPr/>
        </p:nvSpPr>
        <p:spPr>
          <a:xfrm>
            <a:off x="594360" y="5148072"/>
            <a:ext cx="457200" cy="457200"/>
          </a:xfrm>
          <a:prstGeom prst="rect">
            <a:avLst/>
          </a:prstGeom>
          <a:noFill/>
          <a:ln/>
        </p:spPr>
        <p:txBody>
          <a:bodyPr wrap="square" lIns="0" tIns="0" rIns="0" bIns="0" rtlCol="0" anchor="ctr"/>
          <a:lstStyle/>
          <a:p>
            <a:pPr algn="ctr" indent="0" marL="0">
              <a:buNone/>
            </a:pPr>
            <a:r>
              <a:rPr lang="en-US" sz="1600" b="1" dirty="0">
                <a:solidFill>
                  <a:srgbClr val="F5B942"/>
                </a:solidFill>
                <a:latin typeface="Arial" pitchFamily="34" charset="0"/>
                <a:ea typeface="Arial" pitchFamily="34" charset="-122"/>
                <a:cs typeface="Arial" pitchFamily="34" charset="-120"/>
              </a:rPr>
              <a:t>5</a:t>
            </a:r>
            <a:endParaRPr lang="en-US" sz="1600" dirty="0"/>
          </a:p>
        </p:txBody>
      </p:sp>
      <p:sp>
        <p:nvSpPr>
          <p:cNvPr id="22" name="Text 20"/>
          <p:cNvSpPr/>
          <p:nvPr/>
        </p:nvSpPr>
        <p:spPr>
          <a:xfrm>
            <a:off x="1280160" y="5129784"/>
            <a:ext cx="10241280" cy="365760"/>
          </a:xfrm>
          <a:prstGeom prst="rect">
            <a:avLst/>
          </a:prstGeom>
          <a:noFill/>
          <a:ln/>
        </p:spPr>
        <p:txBody>
          <a:bodyPr wrap="square" lIns="0" tIns="0" rIns="0" bIns="0" rtlCol="0" anchor="ctr"/>
          <a:lstStyle/>
          <a:p>
            <a:pPr indent="0" marL="0">
              <a:buNone/>
            </a:pPr>
            <a:r>
              <a:rPr lang="en-US" sz="1600" b="1" dirty="0">
                <a:solidFill>
                  <a:srgbClr val="E8E8F2"/>
                </a:solidFill>
                <a:latin typeface="Arial" pitchFamily="34" charset="0"/>
                <a:ea typeface="Arial" pitchFamily="34" charset="-122"/>
                <a:cs typeface="Arial" pitchFamily="34" charset="-120"/>
              </a:rPr>
              <a:t>Keep the talking to you, not the slides.</a:t>
            </a:r>
            <a:endParaRPr lang="en-US" sz="1600" dirty="0"/>
          </a:p>
        </p:txBody>
      </p:sp>
      <p:sp>
        <p:nvSpPr>
          <p:cNvPr id="23" name="Text 21"/>
          <p:cNvSpPr/>
          <p:nvPr/>
        </p:nvSpPr>
        <p:spPr>
          <a:xfrm>
            <a:off x="1280160" y="5477256"/>
            <a:ext cx="10241280" cy="548640"/>
          </a:xfrm>
          <a:prstGeom prst="rect">
            <a:avLst/>
          </a:prstGeom>
          <a:noFill/>
          <a:ln/>
        </p:spPr>
        <p:txBody>
          <a:bodyPr wrap="square" lIns="0" tIns="0" rIns="0" bIns="0" rtlCol="0" anchor="ctr"/>
          <a:lstStyle/>
          <a:p>
            <a:pPr indent="0" marL="0">
              <a:buNone/>
            </a:pPr>
            <a:r>
              <a:rPr lang="en-US" sz="1250" i="1" dirty="0">
                <a:solidFill>
                  <a:srgbClr val="9A9AB0"/>
                </a:solidFill>
                <a:latin typeface="Arial" pitchFamily="34" charset="0"/>
                <a:ea typeface="Arial" pitchFamily="34" charset="-122"/>
                <a:cs typeface="Arial" pitchFamily="34" charset="-120"/>
              </a:rPr>
              <a:t>The deck supports what you say. You are the presentation. The slides are the proof behind you.</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384048"/>
            <a:ext cx="4572000" cy="274320"/>
          </a:xfrm>
          <a:prstGeom prst="rect">
            <a:avLst/>
          </a:prstGeom>
          <a:noFill/>
          <a:ln/>
        </p:spPr>
        <p:txBody>
          <a:bodyPr wrap="square" rtlCol="0" anchor="ctr"/>
          <a:lstStyle/>
          <a:p>
            <a:pPr indent="0" marL="0">
              <a:buNone/>
            </a:pPr>
            <a:r>
              <a:rPr lang="en-US" sz="1100" b="1" spc="300" kern="0" dirty="0">
                <a:solidFill>
                  <a:srgbClr val="F5B942"/>
                </a:solidFill>
                <a:latin typeface="Arial" pitchFamily="34" charset="0"/>
                <a:ea typeface="Arial" pitchFamily="34" charset="-122"/>
                <a:cs typeface="Arial" pitchFamily="34" charset="-120"/>
              </a:rPr>
              <a:t>PHASE 1 / 12</a:t>
            </a:r>
            <a:endParaRPr lang="en-US" sz="1100" dirty="0"/>
          </a:p>
        </p:txBody>
      </p:sp>
      <p:sp>
        <p:nvSpPr>
          <p:cNvPr id="3" name="Text 1"/>
          <p:cNvSpPr/>
          <p:nvPr/>
        </p:nvSpPr>
        <p:spPr>
          <a:xfrm>
            <a:off x="548640" y="658368"/>
            <a:ext cx="10972800" cy="365760"/>
          </a:xfrm>
          <a:prstGeom prst="rect">
            <a:avLst/>
          </a:prstGeom>
          <a:noFill/>
          <a:ln/>
        </p:spPr>
        <p:txBody>
          <a:bodyPr wrap="square" rtlCol="0" anchor="ctr"/>
          <a:lstStyle/>
          <a:p>
            <a:pPr indent="0" marL="0">
              <a:buNone/>
            </a:pPr>
            <a:r>
              <a:rPr lang="en-US" sz="1300" i="1" dirty="0">
                <a:solidFill>
                  <a:srgbClr val="9A9AB0"/>
                </a:solidFill>
                <a:latin typeface="Arial" pitchFamily="34" charset="0"/>
                <a:ea typeface="Arial" pitchFamily="34" charset="-122"/>
                <a:cs typeface="Arial" pitchFamily="34" charset="-120"/>
              </a:rPr>
              <a:t>The Goal  ·  open by stating the outcome, not your company</a:t>
            </a:r>
            <a:endParaRPr lang="en-US" sz="1300" dirty="0"/>
          </a:p>
        </p:txBody>
      </p:sp>
      <p:sp>
        <p:nvSpPr>
          <p:cNvPr id="4" name="Text 2"/>
          <p:cNvSpPr/>
          <p:nvPr/>
        </p:nvSpPr>
        <p:spPr>
          <a:xfrm>
            <a:off x="548640" y="1371600"/>
            <a:ext cx="10972800" cy="731520"/>
          </a:xfrm>
          <a:prstGeom prst="rect">
            <a:avLst/>
          </a:prstGeom>
          <a:noFill/>
          <a:ln/>
        </p:spPr>
        <p:txBody>
          <a:bodyPr wrap="square" lIns="0" tIns="0" rIns="0" bIns="0" rtlCol="0" anchor="t"/>
          <a:lstStyle/>
          <a:p>
            <a:pPr algn="l" indent="0" marL="0">
              <a:buNone/>
            </a:pPr>
            <a:r>
              <a:rPr lang="en-US" sz="3400" b="1" dirty="0">
                <a:solidFill>
                  <a:srgbClr val="E8E8F2"/>
                </a:solidFill>
                <a:latin typeface="Arial" pitchFamily="34" charset="0"/>
                <a:ea typeface="Arial" pitchFamily="34" charset="-122"/>
                <a:cs typeface="Arial" pitchFamily="34" charset="-120"/>
              </a:rPr>
              <a:t>My goal on this call...</a:t>
            </a:r>
            <a:endParaRPr lang="en-US" sz="3400" dirty="0"/>
          </a:p>
        </p:txBody>
      </p:sp>
      <p:sp>
        <p:nvSpPr>
          <p:cNvPr id="5" name="Shape 3"/>
          <p:cNvSpPr/>
          <p:nvPr/>
        </p:nvSpPr>
        <p:spPr>
          <a:xfrm>
            <a:off x="548640" y="2377440"/>
            <a:ext cx="11064240" cy="2377440"/>
          </a:xfrm>
          <a:prstGeom prst="roundRect">
            <a:avLst>
              <a:gd name="adj" fmla="val 3077"/>
            </a:avLst>
          </a:prstGeom>
          <a:solidFill>
            <a:srgbClr val="1A1A2E"/>
          </a:solidFill>
          <a:ln w="12700">
            <a:solidFill>
              <a:srgbClr val="C88A04"/>
            </a:solidFill>
            <a:prstDash val="dash"/>
          </a:ln>
        </p:spPr>
      </p:sp>
      <p:sp>
        <p:nvSpPr>
          <p:cNvPr id="6" name="Text 4"/>
          <p:cNvSpPr/>
          <p:nvPr/>
        </p:nvSpPr>
        <p:spPr>
          <a:xfrm>
            <a:off x="777240" y="2542032"/>
            <a:ext cx="1060704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YOUR BIG PROMISE (say it in one sentence)</a:t>
            </a:r>
            <a:endParaRPr lang="en-US" sz="1100" dirty="0"/>
          </a:p>
        </p:txBody>
      </p:sp>
      <p:sp>
        <p:nvSpPr>
          <p:cNvPr id="7" name="Text 5"/>
          <p:cNvSpPr/>
          <p:nvPr/>
        </p:nvSpPr>
        <p:spPr>
          <a:xfrm>
            <a:off x="777240" y="2944368"/>
            <a:ext cx="10607040" cy="160020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[I want to share the system we use to help [their type of business] achieve [the specific dream outcome] in [time frame], without [the thing they hate].]</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Example shape only, write your own: name the outcome they most want, the speed, and what they get to avoid. This is the whole reason they stay on the call.</a:t>
            </a:r>
            <a:endParaRPr lang="en-US" sz="1250" dirty="0"/>
          </a:p>
        </p:txBody>
      </p:sp>
      <p:sp>
        <p:nvSpPr>
          <p:cNvPr id="8" name="Text 6"/>
          <p:cNvSpPr/>
          <p:nvPr/>
        </p:nvSpPr>
        <p:spPr>
          <a:xfrm>
            <a:off x="548640" y="5029200"/>
            <a:ext cx="11064240" cy="731520"/>
          </a:xfrm>
          <a:prstGeom prst="rect">
            <a:avLst/>
          </a:prstGeom>
          <a:noFill/>
          <a:ln/>
        </p:spPr>
        <p:txBody>
          <a:bodyPr wrap="square" lIns="0" tIns="0" rIns="0" bIns="0" rtlCol="0" anchor="t"/>
          <a:lstStyle/>
          <a:p>
            <a:pPr algn="l" indent="0" marL="0">
              <a:buNone/>
            </a:pPr>
            <a:r>
              <a:rPr lang="en-US" sz="1300" i="1" dirty="0">
                <a:solidFill>
                  <a:srgbClr val="9A9AB0"/>
                </a:solidFill>
                <a:latin typeface="Arial" pitchFamily="34" charset="0"/>
                <a:ea typeface="Arial" pitchFamily="34" charset="-122"/>
                <a:cs typeface="Arial" pitchFamily="34" charset="-120"/>
              </a:rPr>
              <a:t>Follow this with 1 slide on who you are and 1 on your mission. Keep both short. They care about the outcome, not your logo.</a:t>
            </a:r>
            <a:endParaRPr lang="en-US" sz="1300" dirty="0"/>
          </a:p>
        </p:txBody>
      </p:sp>
      <p:sp>
        <p:nvSpPr>
          <p:cNvPr id="9" name="Text 7"/>
          <p:cNvSpPr/>
          <p:nvPr/>
        </p:nvSpPr>
        <p:spPr>
          <a:xfrm>
            <a:off x="548640" y="6446520"/>
            <a:ext cx="11064240" cy="274320"/>
          </a:xfrm>
          <a:prstGeom prst="rect">
            <a:avLst/>
          </a:prstGeom>
          <a:noFill/>
          <a:ln/>
        </p:spPr>
        <p:txBody>
          <a:bodyPr wrap="square" rtlCol="0" anchor="ctr"/>
          <a:lstStyle/>
          <a:p>
            <a:pPr algn="l" indent="0" marL="0">
              <a:buNone/>
            </a:pPr>
            <a:r>
              <a:rPr lang="en-US" sz="900" dirty="0">
                <a:solidFill>
                  <a:srgbClr val="55556A"/>
                </a:solidFill>
                <a:latin typeface="Arial" pitchFamily="34" charset="0"/>
                <a:ea typeface="Arial" pitchFamily="34" charset="-122"/>
                <a:cs typeface="Arial" pitchFamily="34" charset="-120"/>
              </a:rPr>
              <a:t>TEU  ·  THE DEMO CALL DECK TEMPLATE  ·  fill every [bracket] with your own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384048"/>
            <a:ext cx="4572000" cy="274320"/>
          </a:xfrm>
          <a:prstGeom prst="rect">
            <a:avLst/>
          </a:prstGeom>
          <a:noFill/>
          <a:ln/>
        </p:spPr>
        <p:txBody>
          <a:bodyPr wrap="square" rtlCol="0" anchor="ctr"/>
          <a:lstStyle/>
          <a:p>
            <a:pPr indent="0" marL="0">
              <a:buNone/>
            </a:pPr>
            <a:r>
              <a:rPr lang="en-US" sz="1100" b="1" spc="300" kern="0" dirty="0">
                <a:solidFill>
                  <a:srgbClr val="F5B942"/>
                </a:solidFill>
                <a:latin typeface="Arial" pitchFamily="34" charset="0"/>
                <a:ea typeface="Arial" pitchFamily="34" charset="-122"/>
                <a:cs typeface="Arial" pitchFamily="34" charset="-120"/>
              </a:rPr>
              <a:t>PHASE 2 / 12</a:t>
            </a:r>
            <a:endParaRPr lang="en-US" sz="1100" dirty="0"/>
          </a:p>
        </p:txBody>
      </p:sp>
      <p:sp>
        <p:nvSpPr>
          <p:cNvPr id="3" name="Text 1"/>
          <p:cNvSpPr/>
          <p:nvPr/>
        </p:nvSpPr>
        <p:spPr>
          <a:xfrm>
            <a:off x="548640" y="658368"/>
            <a:ext cx="10972800" cy="365760"/>
          </a:xfrm>
          <a:prstGeom prst="rect">
            <a:avLst/>
          </a:prstGeom>
          <a:noFill/>
          <a:ln/>
        </p:spPr>
        <p:txBody>
          <a:bodyPr wrap="square" rtlCol="0" anchor="ctr"/>
          <a:lstStyle/>
          <a:p>
            <a:pPr indent="0" marL="0">
              <a:buNone/>
            </a:pPr>
            <a:r>
              <a:rPr lang="en-US" sz="1300" i="1" dirty="0">
                <a:solidFill>
                  <a:srgbClr val="9A9AB0"/>
                </a:solidFill>
                <a:latin typeface="Arial" pitchFamily="34" charset="0"/>
                <a:ea typeface="Arial" pitchFamily="34" charset="-122"/>
                <a:cs typeface="Arial" pitchFamily="34" charset="-120"/>
              </a:rPr>
              <a:t>The Method  ·  the WHAT before the HOW</a:t>
            </a:r>
            <a:endParaRPr lang="en-US" sz="1300" dirty="0"/>
          </a:p>
        </p:txBody>
      </p:sp>
      <p:sp>
        <p:nvSpPr>
          <p:cNvPr id="4" name="Text 2"/>
          <p:cNvSpPr/>
          <p:nvPr/>
        </p:nvSpPr>
        <p:spPr>
          <a:xfrm>
            <a:off x="548640" y="1280160"/>
            <a:ext cx="10972800" cy="640080"/>
          </a:xfrm>
          <a:prstGeom prst="rect">
            <a:avLst/>
          </a:prstGeom>
          <a:noFill/>
          <a:ln/>
        </p:spPr>
        <p:txBody>
          <a:bodyPr wrap="square" lIns="0" tIns="0" rIns="0" bIns="0" rtlCol="0" anchor="t"/>
          <a:lstStyle/>
          <a:p>
            <a:pPr algn="l" indent="0" marL="0">
              <a:buNone/>
            </a:pPr>
            <a:r>
              <a:rPr lang="en-US" sz="3000" b="1" dirty="0">
                <a:solidFill>
                  <a:srgbClr val="E8E8F2"/>
                </a:solidFill>
                <a:latin typeface="Arial" pitchFamily="34" charset="0"/>
                <a:ea typeface="Arial" pitchFamily="34" charset="-122"/>
                <a:cs typeface="Arial" pitchFamily="34" charset="-120"/>
              </a:rPr>
              <a:t>The [number]-step system</a:t>
            </a:r>
            <a:endParaRPr lang="en-US" sz="3000" dirty="0"/>
          </a:p>
        </p:txBody>
      </p:sp>
      <p:sp>
        <p:nvSpPr>
          <p:cNvPr id="5" name="Shape 3"/>
          <p:cNvSpPr/>
          <p:nvPr/>
        </p:nvSpPr>
        <p:spPr>
          <a:xfrm>
            <a:off x="548640" y="2103120"/>
            <a:ext cx="2606040" cy="2377440"/>
          </a:xfrm>
          <a:prstGeom prst="roundRect">
            <a:avLst>
              <a:gd name="adj" fmla="val 3077"/>
            </a:avLst>
          </a:prstGeom>
          <a:solidFill>
            <a:srgbClr val="1A1A2E"/>
          </a:solidFill>
          <a:ln w="12700">
            <a:solidFill>
              <a:srgbClr val="C88A04"/>
            </a:solidFill>
            <a:prstDash val="dash"/>
          </a:ln>
        </p:spPr>
      </p:sp>
      <p:sp>
        <p:nvSpPr>
          <p:cNvPr id="6" name="Text 4"/>
          <p:cNvSpPr/>
          <p:nvPr/>
        </p:nvSpPr>
        <p:spPr>
          <a:xfrm>
            <a:off x="777240" y="2267712"/>
            <a:ext cx="214884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STEP 1</a:t>
            </a:r>
            <a:endParaRPr lang="en-US" sz="1100" dirty="0"/>
          </a:p>
        </p:txBody>
      </p:sp>
      <p:sp>
        <p:nvSpPr>
          <p:cNvPr id="7" name="Text 5"/>
          <p:cNvSpPr/>
          <p:nvPr/>
        </p:nvSpPr>
        <p:spPr>
          <a:xfrm>
            <a:off x="777240" y="2670048"/>
            <a:ext cx="2148840" cy="160020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[first stage of your system]</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[one line on what it does for them]</a:t>
            </a:r>
            <a:endParaRPr lang="en-US" sz="1250" dirty="0"/>
          </a:p>
        </p:txBody>
      </p:sp>
      <p:sp>
        <p:nvSpPr>
          <p:cNvPr id="8" name="Shape 6"/>
          <p:cNvSpPr/>
          <p:nvPr/>
        </p:nvSpPr>
        <p:spPr>
          <a:xfrm>
            <a:off x="3310128" y="2103120"/>
            <a:ext cx="2606040" cy="2377440"/>
          </a:xfrm>
          <a:prstGeom prst="roundRect">
            <a:avLst>
              <a:gd name="adj" fmla="val 3077"/>
            </a:avLst>
          </a:prstGeom>
          <a:solidFill>
            <a:srgbClr val="1A1A2E"/>
          </a:solidFill>
          <a:ln w="12700">
            <a:solidFill>
              <a:srgbClr val="C88A04"/>
            </a:solidFill>
            <a:prstDash val="dash"/>
          </a:ln>
        </p:spPr>
      </p:sp>
      <p:sp>
        <p:nvSpPr>
          <p:cNvPr id="9" name="Text 7"/>
          <p:cNvSpPr/>
          <p:nvPr/>
        </p:nvSpPr>
        <p:spPr>
          <a:xfrm>
            <a:off x="3538728" y="2267712"/>
            <a:ext cx="214884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STEP 2</a:t>
            </a:r>
            <a:endParaRPr lang="en-US" sz="1100" dirty="0"/>
          </a:p>
        </p:txBody>
      </p:sp>
      <p:sp>
        <p:nvSpPr>
          <p:cNvPr id="10" name="Text 8"/>
          <p:cNvSpPr/>
          <p:nvPr/>
        </p:nvSpPr>
        <p:spPr>
          <a:xfrm>
            <a:off x="3538728" y="2670048"/>
            <a:ext cx="2148840" cy="160020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[second stage]</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[one line on what it does for them]</a:t>
            </a:r>
            <a:endParaRPr lang="en-US" sz="1250" dirty="0"/>
          </a:p>
        </p:txBody>
      </p:sp>
      <p:sp>
        <p:nvSpPr>
          <p:cNvPr id="11" name="Shape 9"/>
          <p:cNvSpPr/>
          <p:nvPr/>
        </p:nvSpPr>
        <p:spPr>
          <a:xfrm>
            <a:off x="6071616" y="2103120"/>
            <a:ext cx="2606040" cy="2377440"/>
          </a:xfrm>
          <a:prstGeom prst="roundRect">
            <a:avLst>
              <a:gd name="adj" fmla="val 3077"/>
            </a:avLst>
          </a:prstGeom>
          <a:solidFill>
            <a:srgbClr val="1A1A2E"/>
          </a:solidFill>
          <a:ln w="12700">
            <a:solidFill>
              <a:srgbClr val="C88A04"/>
            </a:solidFill>
            <a:prstDash val="dash"/>
          </a:ln>
        </p:spPr>
      </p:sp>
      <p:sp>
        <p:nvSpPr>
          <p:cNvPr id="12" name="Text 10"/>
          <p:cNvSpPr/>
          <p:nvPr/>
        </p:nvSpPr>
        <p:spPr>
          <a:xfrm>
            <a:off x="6300216" y="2267712"/>
            <a:ext cx="214884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STEP 3</a:t>
            </a:r>
            <a:endParaRPr lang="en-US" sz="1100" dirty="0"/>
          </a:p>
        </p:txBody>
      </p:sp>
      <p:sp>
        <p:nvSpPr>
          <p:cNvPr id="13" name="Text 11"/>
          <p:cNvSpPr/>
          <p:nvPr/>
        </p:nvSpPr>
        <p:spPr>
          <a:xfrm>
            <a:off x="6300216" y="2670048"/>
            <a:ext cx="2148840" cy="160020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[third stage]</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[one line on what it does for them]</a:t>
            </a:r>
            <a:endParaRPr lang="en-US" sz="1250" dirty="0"/>
          </a:p>
        </p:txBody>
      </p:sp>
      <p:sp>
        <p:nvSpPr>
          <p:cNvPr id="14" name="Shape 12"/>
          <p:cNvSpPr/>
          <p:nvPr/>
        </p:nvSpPr>
        <p:spPr>
          <a:xfrm>
            <a:off x="8833104" y="2103120"/>
            <a:ext cx="2606040" cy="2377440"/>
          </a:xfrm>
          <a:prstGeom prst="roundRect">
            <a:avLst>
              <a:gd name="adj" fmla="val 3077"/>
            </a:avLst>
          </a:prstGeom>
          <a:solidFill>
            <a:srgbClr val="1A1A2E"/>
          </a:solidFill>
          <a:ln w="12700">
            <a:solidFill>
              <a:srgbClr val="C88A04"/>
            </a:solidFill>
            <a:prstDash val="dash"/>
          </a:ln>
        </p:spPr>
      </p:sp>
      <p:sp>
        <p:nvSpPr>
          <p:cNvPr id="15" name="Text 13"/>
          <p:cNvSpPr/>
          <p:nvPr/>
        </p:nvSpPr>
        <p:spPr>
          <a:xfrm>
            <a:off x="9061704" y="2267712"/>
            <a:ext cx="214884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STEP 4</a:t>
            </a:r>
            <a:endParaRPr lang="en-US" sz="1100" dirty="0"/>
          </a:p>
        </p:txBody>
      </p:sp>
      <p:sp>
        <p:nvSpPr>
          <p:cNvPr id="16" name="Text 14"/>
          <p:cNvSpPr/>
          <p:nvPr/>
        </p:nvSpPr>
        <p:spPr>
          <a:xfrm>
            <a:off x="9061704" y="2670048"/>
            <a:ext cx="2148840" cy="160020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[fourth stage]</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[one line on what it does for them]</a:t>
            </a:r>
            <a:endParaRPr lang="en-US" sz="1250" dirty="0"/>
          </a:p>
        </p:txBody>
      </p:sp>
      <p:sp>
        <p:nvSpPr>
          <p:cNvPr id="17" name="Text 15"/>
          <p:cNvSpPr/>
          <p:nvPr/>
        </p:nvSpPr>
        <p:spPr>
          <a:xfrm>
            <a:off x="548640" y="4754880"/>
            <a:ext cx="11064240" cy="731520"/>
          </a:xfrm>
          <a:prstGeom prst="rect">
            <a:avLst/>
          </a:prstGeom>
          <a:noFill/>
          <a:ln/>
        </p:spPr>
        <p:txBody>
          <a:bodyPr wrap="square" lIns="0" tIns="0" rIns="0" bIns="0" rtlCol="0" anchor="t"/>
          <a:lstStyle/>
          <a:p>
            <a:pPr algn="l" indent="0" marL="0">
              <a:buNone/>
            </a:pPr>
            <a:r>
              <a:rPr lang="en-US" sz="1300" i="1" dirty="0">
                <a:solidFill>
                  <a:srgbClr val="9A9AB0"/>
                </a:solidFill>
                <a:latin typeface="Arial" pitchFamily="34" charset="0"/>
                <a:ea typeface="Arial" pitchFamily="34" charset="-122"/>
                <a:cs typeface="Arial" pitchFamily="34" charset="-120"/>
              </a:rPr>
              <a:t>Give the high-level map first, so they see the whole journey. You explain HOW each step works later, in Phase 6. Right now, just name the steps.</a:t>
            </a:r>
            <a:endParaRPr lang="en-US" sz="1300" dirty="0"/>
          </a:p>
        </p:txBody>
      </p:sp>
      <p:sp>
        <p:nvSpPr>
          <p:cNvPr id="18" name="Text 16"/>
          <p:cNvSpPr/>
          <p:nvPr/>
        </p:nvSpPr>
        <p:spPr>
          <a:xfrm>
            <a:off x="548640" y="6446520"/>
            <a:ext cx="11064240" cy="274320"/>
          </a:xfrm>
          <a:prstGeom prst="rect">
            <a:avLst/>
          </a:prstGeom>
          <a:noFill/>
          <a:ln/>
        </p:spPr>
        <p:txBody>
          <a:bodyPr wrap="square" rtlCol="0" anchor="ctr"/>
          <a:lstStyle/>
          <a:p>
            <a:pPr algn="l" indent="0" marL="0">
              <a:buNone/>
            </a:pPr>
            <a:r>
              <a:rPr lang="en-US" sz="900" dirty="0">
                <a:solidFill>
                  <a:srgbClr val="55556A"/>
                </a:solidFill>
                <a:latin typeface="Arial" pitchFamily="34" charset="0"/>
                <a:ea typeface="Arial" pitchFamily="34" charset="-122"/>
                <a:cs typeface="Arial" pitchFamily="34" charset="-120"/>
              </a:rPr>
              <a:t>TEU  ·  THE DEMO CALL DECK TEMPLATE  ·  fill every [bracket] with your own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384048"/>
            <a:ext cx="4572000" cy="274320"/>
          </a:xfrm>
          <a:prstGeom prst="rect">
            <a:avLst/>
          </a:prstGeom>
          <a:noFill/>
          <a:ln/>
        </p:spPr>
        <p:txBody>
          <a:bodyPr wrap="square" rtlCol="0" anchor="ctr"/>
          <a:lstStyle/>
          <a:p>
            <a:pPr indent="0" marL="0">
              <a:buNone/>
            </a:pPr>
            <a:r>
              <a:rPr lang="en-US" sz="1100" b="1" spc="300" kern="0" dirty="0">
                <a:solidFill>
                  <a:srgbClr val="F5B942"/>
                </a:solidFill>
                <a:latin typeface="Arial" pitchFamily="34" charset="0"/>
                <a:ea typeface="Arial" pitchFamily="34" charset="-122"/>
                <a:cs typeface="Arial" pitchFamily="34" charset="-120"/>
              </a:rPr>
              <a:t>PHASE 3 / 12</a:t>
            </a:r>
            <a:endParaRPr lang="en-US" sz="1100" dirty="0"/>
          </a:p>
        </p:txBody>
      </p:sp>
      <p:sp>
        <p:nvSpPr>
          <p:cNvPr id="3" name="Text 1"/>
          <p:cNvSpPr/>
          <p:nvPr/>
        </p:nvSpPr>
        <p:spPr>
          <a:xfrm>
            <a:off x="548640" y="658368"/>
            <a:ext cx="10972800" cy="365760"/>
          </a:xfrm>
          <a:prstGeom prst="rect">
            <a:avLst/>
          </a:prstGeom>
          <a:noFill/>
          <a:ln/>
        </p:spPr>
        <p:txBody>
          <a:bodyPr wrap="square" rtlCol="0" anchor="ctr"/>
          <a:lstStyle/>
          <a:p>
            <a:pPr indent="0" marL="0">
              <a:buNone/>
            </a:pPr>
            <a:r>
              <a:rPr lang="en-US" sz="1300" i="1" dirty="0">
                <a:solidFill>
                  <a:srgbClr val="9A9AB0"/>
                </a:solidFill>
                <a:latin typeface="Arial" pitchFamily="34" charset="0"/>
                <a:ea typeface="Arial" pitchFamily="34" charset="-122"/>
                <a:cs typeface="Arial" pitchFamily="34" charset="-120"/>
              </a:rPr>
              <a:t>Authority  ·  why they should listen to you</a:t>
            </a:r>
            <a:endParaRPr lang="en-US" sz="1300" dirty="0"/>
          </a:p>
        </p:txBody>
      </p:sp>
      <p:sp>
        <p:nvSpPr>
          <p:cNvPr id="4" name="Text 2"/>
          <p:cNvSpPr/>
          <p:nvPr/>
        </p:nvSpPr>
        <p:spPr>
          <a:xfrm>
            <a:off x="548640" y="1280160"/>
            <a:ext cx="10972800" cy="640080"/>
          </a:xfrm>
          <a:prstGeom prst="rect">
            <a:avLst/>
          </a:prstGeom>
          <a:noFill/>
          <a:ln/>
        </p:spPr>
        <p:txBody>
          <a:bodyPr wrap="square" lIns="0" tIns="0" rIns="0" bIns="0" rtlCol="0" anchor="t"/>
          <a:lstStyle/>
          <a:p>
            <a:pPr algn="l" indent="0" marL="0">
              <a:buNone/>
            </a:pPr>
            <a:r>
              <a:rPr lang="en-US" sz="3000" b="1" dirty="0">
                <a:solidFill>
                  <a:srgbClr val="E8E8F2"/>
                </a:solidFill>
                <a:latin typeface="Arial" pitchFamily="34" charset="0"/>
                <a:ea typeface="Arial" pitchFamily="34" charset="-122"/>
                <a:cs typeface="Arial" pitchFamily="34" charset="-120"/>
              </a:rPr>
              <a:t>Why we understand your world</a:t>
            </a:r>
            <a:endParaRPr lang="en-US" sz="3000" dirty="0"/>
          </a:p>
        </p:txBody>
      </p:sp>
      <p:sp>
        <p:nvSpPr>
          <p:cNvPr id="5" name="Shape 3"/>
          <p:cNvSpPr/>
          <p:nvPr/>
        </p:nvSpPr>
        <p:spPr>
          <a:xfrm>
            <a:off x="548640" y="2103120"/>
            <a:ext cx="5394960" cy="3108960"/>
          </a:xfrm>
          <a:prstGeom prst="roundRect">
            <a:avLst>
              <a:gd name="adj" fmla="val 2353"/>
            </a:avLst>
          </a:prstGeom>
          <a:solidFill>
            <a:srgbClr val="1A1A2E"/>
          </a:solidFill>
          <a:ln w="12700">
            <a:solidFill>
              <a:srgbClr val="C88A04"/>
            </a:solidFill>
            <a:prstDash val="dash"/>
          </a:ln>
        </p:spPr>
      </p:sp>
      <p:sp>
        <p:nvSpPr>
          <p:cNvPr id="6" name="Text 4"/>
          <p:cNvSpPr/>
          <p:nvPr/>
        </p:nvSpPr>
        <p:spPr>
          <a:xfrm>
            <a:off x="777240" y="2267712"/>
            <a:ext cx="493776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YOUR EXPERIENCE / VOLUME</a:t>
            </a:r>
            <a:endParaRPr lang="en-US" sz="1100" dirty="0"/>
          </a:p>
        </p:txBody>
      </p:sp>
      <p:sp>
        <p:nvSpPr>
          <p:cNvPr id="7" name="Text 5"/>
          <p:cNvSpPr/>
          <p:nvPr/>
        </p:nvSpPr>
        <p:spPr>
          <a:xfrm>
            <a:off x="777240" y="2670048"/>
            <a:ext cx="4937760" cy="233172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[We have worked with [number] [type of business] across [number] markets.]</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[One line on the depth of what you have seen: calls listened to, dollars spent learning, years in the trenches.]</a:t>
            </a:r>
            <a:endParaRPr lang="en-US" sz="1250" dirty="0"/>
          </a:p>
        </p:txBody>
      </p:sp>
      <p:sp>
        <p:nvSpPr>
          <p:cNvPr id="8" name="Shape 6"/>
          <p:cNvSpPr/>
          <p:nvPr/>
        </p:nvSpPr>
        <p:spPr>
          <a:xfrm>
            <a:off x="6172200" y="2103120"/>
            <a:ext cx="5440680" cy="3108960"/>
          </a:xfrm>
          <a:prstGeom prst="roundRect">
            <a:avLst>
              <a:gd name="adj" fmla="val 2353"/>
            </a:avLst>
          </a:prstGeom>
          <a:solidFill>
            <a:srgbClr val="1A1A2E"/>
          </a:solidFill>
          <a:ln w="12700">
            <a:solidFill>
              <a:srgbClr val="C88A04"/>
            </a:solidFill>
            <a:prstDash val="dash"/>
          </a:ln>
        </p:spPr>
      </p:sp>
      <p:sp>
        <p:nvSpPr>
          <p:cNvPr id="9" name="Text 7"/>
          <p:cNvSpPr/>
          <p:nvPr/>
        </p:nvSpPr>
        <p:spPr>
          <a:xfrm>
            <a:off x="6400800" y="2267712"/>
            <a:ext cx="498348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WHY THAT MATTERS TO THEM</a:t>
            </a:r>
            <a:endParaRPr lang="en-US" sz="1100" dirty="0"/>
          </a:p>
        </p:txBody>
      </p:sp>
      <p:sp>
        <p:nvSpPr>
          <p:cNvPr id="10" name="Text 8"/>
          <p:cNvSpPr/>
          <p:nvPr/>
        </p:nvSpPr>
        <p:spPr>
          <a:xfrm>
            <a:off x="6400800" y="2670048"/>
            <a:ext cx="4983480" cy="233172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[Because of that, we know exactly why some [businesses like theirs] grow fast while others stay stuck.]</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[Position yourself as someone who has already solved their exact problem many times.]</a:t>
            </a:r>
            <a:endParaRPr lang="en-US" sz="1250" dirty="0"/>
          </a:p>
        </p:txBody>
      </p:sp>
      <p:sp>
        <p:nvSpPr>
          <p:cNvPr id="11" name="Text 9"/>
          <p:cNvSpPr/>
          <p:nvPr/>
        </p:nvSpPr>
        <p:spPr>
          <a:xfrm>
            <a:off x="548640" y="5486400"/>
            <a:ext cx="11064240" cy="640080"/>
          </a:xfrm>
          <a:prstGeom prst="rect">
            <a:avLst/>
          </a:prstGeom>
          <a:noFill/>
          <a:ln/>
        </p:spPr>
        <p:txBody>
          <a:bodyPr wrap="square" lIns="0" tIns="0" rIns="0" bIns="0" rtlCol="0" anchor="t"/>
          <a:lstStyle/>
          <a:p>
            <a:pPr algn="l" indent="0" marL="0">
              <a:buNone/>
            </a:pPr>
            <a:r>
              <a:rPr lang="en-US" sz="1200" i="1" dirty="0">
                <a:solidFill>
                  <a:srgbClr val="9A9AB0"/>
                </a:solidFill>
                <a:latin typeface="Arial" pitchFamily="34" charset="0"/>
                <a:ea typeface="Arial" pitchFamily="34" charset="-122"/>
                <a:cs typeface="Arial" pitchFamily="34" charset="-120"/>
              </a:rPr>
              <a:t>If you are new and do not have big numbers yet, use borrowed authority: the frameworks you have studied, the time and money you have invested to learn this, results you have gotten even if small.</a:t>
            </a:r>
            <a:endParaRPr lang="en-US" sz="1200" dirty="0"/>
          </a:p>
        </p:txBody>
      </p:sp>
      <p:sp>
        <p:nvSpPr>
          <p:cNvPr id="12" name="Text 10"/>
          <p:cNvSpPr/>
          <p:nvPr/>
        </p:nvSpPr>
        <p:spPr>
          <a:xfrm>
            <a:off x="548640" y="6446520"/>
            <a:ext cx="11064240" cy="274320"/>
          </a:xfrm>
          <a:prstGeom prst="rect">
            <a:avLst/>
          </a:prstGeom>
          <a:noFill/>
          <a:ln/>
        </p:spPr>
        <p:txBody>
          <a:bodyPr wrap="square" rtlCol="0" anchor="ctr"/>
          <a:lstStyle/>
          <a:p>
            <a:pPr algn="l" indent="0" marL="0">
              <a:buNone/>
            </a:pPr>
            <a:r>
              <a:rPr lang="en-US" sz="900" dirty="0">
                <a:solidFill>
                  <a:srgbClr val="55556A"/>
                </a:solidFill>
                <a:latin typeface="Arial" pitchFamily="34" charset="0"/>
                <a:ea typeface="Arial" pitchFamily="34" charset="-122"/>
                <a:cs typeface="Arial" pitchFamily="34" charset="-120"/>
              </a:rPr>
              <a:t>TEU  ·  THE DEMO CALL DECK TEMPLATE  ·  fill every [bracket] with your own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384048"/>
            <a:ext cx="4572000" cy="274320"/>
          </a:xfrm>
          <a:prstGeom prst="rect">
            <a:avLst/>
          </a:prstGeom>
          <a:noFill/>
          <a:ln/>
        </p:spPr>
        <p:txBody>
          <a:bodyPr wrap="square" rtlCol="0" anchor="ctr"/>
          <a:lstStyle/>
          <a:p>
            <a:pPr indent="0" marL="0">
              <a:buNone/>
            </a:pPr>
            <a:r>
              <a:rPr lang="en-US" sz="1100" b="1" spc="300" kern="0" dirty="0">
                <a:solidFill>
                  <a:srgbClr val="F5B942"/>
                </a:solidFill>
                <a:latin typeface="Arial" pitchFamily="34" charset="0"/>
                <a:ea typeface="Arial" pitchFamily="34" charset="-122"/>
                <a:cs typeface="Arial" pitchFamily="34" charset="-120"/>
              </a:rPr>
              <a:t>PHASE 4 / 12</a:t>
            </a:r>
            <a:endParaRPr lang="en-US" sz="1100" dirty="0"/>
          </a:p>
        </p:txBody>
      </p:sp>
      <p:sp>
        <p:nvSpPr>
          <p:cNvPr id="3" name="Text 1"/>
          <p:cNvSpPr/>
          <p:nvPr/>
        </p:nvSpPr>
        <p:spPr>
          <a:xfrm>
            <a:off x="548640" y="658368"/>
            <a:ext cx="10972800" cy="365760"/>
          </a:xfrm>
          <a:prstGeom prst="rect">
            <a:avLst/>
          </a:prstGeom>
          <a:noFill/>
          <a:ln/>
        </p:spPr>
        <p:txBody>
          <a:bodyPr wrap="square" rtlCol="0" anchor="ctr"/>
          <a:lstStyle/>
          <a:p>
            <a:pPr indent="0" marL="0">
              <a:buNone/>
            </a:pPr>
            <a:r>
              <a:rPr lang="en-US" sz="1300" i="1" dirty="0">
                <a:solidFill>
                  <a:srgbClr val="9A9AB0"/>
                </a:solidFill>
                <a:latin typeface="Arial" pitchFamily="34" charset="0"/>
                <a:ea typeface="Arial" pitchFamily="34" charset="-122"/>
                <a:cs typeface="Arial" pitchFamily="34" charset="-120"/>
              </a:rPr>
              <a:t>Proof Stack  ·  many results, fast, specific</a:t>
            </a:r>
            <a:endParaRPr lang="en-US" sz="1300" dirty="0"/>
          </a:p>
        </p:txBody>
      </p:sp>
      <p:sp>
        <p:nvSpPr>
          <p:cNvPr id="4" name="Text 2"/>
          <p:cNvSpPr/>
          <p:nvPr/>
        </p:nvSpPr>
        <p:spPr>
          <a:xfrm>
            <a:off x="548640" y="1188720"/>
            <a:ext cx="10972800" cy="640080"/>
          </a:xfrm>
          <a:prstGeom prst="rect">
            <a:avLst/>
          </a:prstGeom>
          <a:noFill/>
          <a:ln/>
        </p:spPr>
        <p:txBody>
          <a:bodyPr wrap="square" lIns="0" tIns="0" rIns="0" bIns="0" rtlCol="0" anchor="t"/>
          <a:lstStyle/>
          <a:p>
            <a:pPr algn="l" indent="0" marL="0">
              <a:buNone/>
            </a:pPr>
            <a:r>
              <a:rPr lang="en-US" sz="2800" b="1" dirty="0">
                <a:solidFill>
                  <a:srgbClr val="E8E8F2"/>
                </a:solidFill>
                <a:latin typeface="Arial" pitchFamily="34" charset="0"/>
                <a:ea typeface="Arial" pitchFamily="34" charset="-122"/>
                <a:cs typeface="Arial" pitchFamily="34" charset="-120"/>
              </a:rPr>
              <a:t>Let me show you some examples...</a:t>
            </a:r>
            <a:endParaRPr lang="en-US" sz="2800" dirty="0"/>
          </a:p>
        </p:txBody>
      </p:sp>
      <p:sp>
        <p:nvSpPr>
          <p:cNvPr id="5" name="Shape 3"/>
          <p:cNvSpPr/>
          <p:nvPr/>
        </p:nvSpPr>
        <p:spPr>
          <a:xfrm>
            <a:off x="548640" y="2011680"/>
            <a:ext cx="3566160" cy="1417320"/>
          </a:xfrm>
          <a:prstGeom prst="roundRect">
            <a:avLst>
              <a:gd name="adj" fmla="val 5161"/>
            </a:avLst>
          </a:prstGeom>
          <a:solidFill>
            <a:srgbClr val="1A1A2E"/>
          </a:solidFill>
          <a:ln w="12700">
            <a:solidFill>
              <a:srgbClr val="C88A04"/>
            </a:solidFill>
            <a:prstDash val="dash"/>
          </a:ln>
        </p:spPr>
      </p:sp>
      <p:sp>
        <p:nvSpPr>
          <p:cNvPr id="6" name="Text 4"/>
          <p:cNvSpPr/>
          <p:nvPr/>
        </p:nvSpPr>
        <p:spPr>
          <a:xfrm>
            <a:off x="777240" y="2176272"/>
            <a:ext cx="310896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CLIENT / RESULT 1</a:t>
            </a:r>
            <a:endParaRPr lang="en-US" sz="1100" dirty="0"/>
          </a:p>
        </p:txBody>
      </p:sp>
      <p:sp>
        <p:nvSpPr>
          <p:cNvPr id="7" name="Text 5"/>
          <p:cNvSpPr/>
          <p:nvPr/>
        </p:nvSpPr>
        <p:spPr>
          <a:xfrm>
            <a:off x="777240" y="2578608"/>
            <a:ext cx="3108960" cy="64008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[name] got [specific number result] in [time]</a:t>
            </a:r>
            <a:endParaRPr lang="en-US" sz="1250" dirty="0"/>
          </a:p>
        </p:txBody>
      </p:sp>
      <p:sp>
        <p:nvSpPr>
          <p:cNvPr id="8" name="Shape 6"/>
          <p:cNvSpPr/>
          <p:nvPr/>
        </p:nvSpPr>
        <p:spPr>
          <a:xfrm>
            <a:off x="4233672" y="2011680"/>
            <a:ext cx="3566160" cy="1417320"/>
          </a:xfrm>
          <a:prstGeom prst="roundRect">
            <a:avLst>
              <a:gd name="adj" fmla="val 5161"/>
            </a:avLst>
          </a:prstGeom>
          <a:solidFill>
            <a:srgbClr val="1A1A2E"/>
          </a:solidFill>
          <a:ln w="12700">
            <a:solidFill>
              <a:srgbClr val="C88A04"/>
            </a:solidFill>
            <a:prstDash val="dash"/>
          </a:ln>
        </p:spPr>
      </p:sp>
      <p:sp>
        <p:nvSpPr>
          <p:cNvPr id="9" name="Text 7"/>
          <p:cNvSpPr/>
          <p:nvPr/>
        </p:nvSpPr>
        <p:spPr>
          <a:xfrm>
            <a:off x="4462272" y="2176272"/>
            <a:ext cx="310896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CLIENT / RESULT 2</a:t>
            </a:r>
            <a:endParaRPr lang="en-US" sz="1100" dirty="0"/>
          </a:p>
        </p:txBody>
      </p:sp>
      <p:sp>
        <p:nvSpPr>
          <p:cNvPr id="10" name="Text 8"/>
          <p:cNvSpPr/>
          <p:nvPr/>
        </p:nvSpPr>
        <p:spPr>
          <a:xfrm>
            <a:off x="4462272" y="2578608"/>
            <a:ext cx="3108960" cy="64008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[name] went from [before] to [after]</a:t>
            </a:r>
            <a:endParaRPr lang="en-US" sz="1250" dirty="0"/>
          </a:p>
        </p:txBody>
      </p:sp>
      <p:sp>
        <p:nvSpPr>
          <p:cNvPr id="11" name="Shape 9"/>
          <p:cNvSpPr/>
          <p:nvPr/>
        </p:nvSpPr>
        <p:spPr>
          <a:xfrm>
            <a:off x="7918704" y="2011680"/>
            <a:ext cx="3566160" cy="1417320"/>
          </a:xfrm>
          <a:prstGeom prst="roundRect">
            <a:avLst>
              <a:gd name="adj" fmla="val 5161"/>
            </a:avLst>
          </a:prstGeom>
          <a:solidFill>
            <a:srgbClr val="1A1A2E"/>
          </a:solidFill>
          <a:ln w="12700">
            <a:solidFill>
              <a:srgbClr val="C88A04"/>
            </a:solidFill>
            <a:prstDash val="dash"/>
          </a:ln>
        </p:spPr>
      </p:sp>
      <p:sp>
        <p:nvSpPr>
          <p:cNvPr id="12" name="Text 10"/>
          <p:cNvSpPr/>
          <p:nvPr/>
        </p:nvSpPr>
        <p:spPr>
          <a:xfrm>
            <a:off x="8147304" y="2176272"/>
            <a:ext cx="310896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CLIENT / RESULT 3</a:t>
            </a:r>
            <a:endParaRPr lang="en-US" sz="1100" dirty="0"/>
          </a:p>
        </p:txBody>
      </p:sp>
      <p:sp>
        <p:nvSpPr>
          <p:cNvPr id="13" name="Text 11"/>
          <p:cNvSpPr/>
          <p:nvPr/>
        </p:nvSpPr>
        <p:spPr>
          <a:xfrm>
            <a:off x="8147304" y="2578608"/>
            <a:ext cx="3108960" cy="64008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[name]: [specific metric]</a:t>
            </a:r>
            <a:endParaRPr lang="en-US" sz="1250" dirty="0"/>
          </a:p>
        </p:txBody>
      </p:sp>
      <p:sp>
        <p:nvSpPr>
          <p:cNvPr id="14" name="Shape 12"/>
          <p:cNvSpPr/>
          <p:nvPr/>
        </p:nvSpPr>
        <p:spPr>
          <a:xfrm>
            <a:off x="548640" y="3566160"/>
            <a:ext cx="3566160" cy="1417320"/>
          </a:xfrm>
          <a:prstGeom prst="roundRect">
            <a:avLst>
              <a:gd name="adj" fmla="val 5161"/>
            </a:avLst>
          </a:prstGeom>
          <a:solidFill>
            <a:srgbClr val="1A1A2E"/>
          </a:solidFill>
          <a:ln w="12700">
            <a:solidFill>
              <a:srgbClr val="C88A04"/>
            </a:solidFill>
            <a:prstDash val="dash"/>
          </a:ln>
        </p:spPr>
      </p:sp>
      <p:sp>
        <p:nvSpPr>
          <p:cNvPr id="15" name="Text 13"/>
          <p:cNvSpPr/>
          <p:nvPr/>
        </p:nvSpPr>
        <p:spPr>
          <a:xfrm>
            <a:off x="777240" y="3730752"/>
            <a:ext cx="310896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CLIENT / RESULT 4</a:t>
            </a:r>
            <a:endParaRPr lang="en-US" sz="1100" dirty="0"/>
          </a:p>
        </p:txBody>
      </p:sp>
      <p:sp>
        <p:nvSpPr>
          <p:cNvPr id="16" name="Text 14"/>
          <p:cNvSpPr/>
          <p:nvPr/>
        </p:nvSpPr>
        <p:spPr>
          <a:xfrm>
            <a:off x="777240" y="4133088"/>
            <a:ext cx="3108960" cy="64008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[name]: [specific metric]</a:t>
            </a:r>
            <a:endParaRPr lang="en-US" sz="1250" dirty="0"/>
          </a:p>
        </p:txBody>
      </p:sp>
      <p:sp>
        <p:nvSpPr>
          <p:cNvPr id="17" name="Shape 15"/>
          <p:cNvSpPr/>
          <p:nvPr/>
        </p:nvSpPr>
        <p:spPr>
          <a:xfrm>
            <a:off x="4233672" y="3566160"/>
            <a:ext cx="3566160" cy="1417320"/>
          </a:xfrm>
          <a:prstGeom prst="roundRect">
            <a:avLst>
              <a:gd name="adj" fmla="val 5161"/>
            </a:avLst>
          </a:prstGeom>
          <a:solidFill>
            <a:srgbClr val="1A1A2E"/>
          </a:solidFill>
          <a:ln w="12700">
            <a:solidFill>
              <a:srgbClr val="C88A04"/>
            </a:solidFill>
            <a:prstDash val="dash"/>
          </a:ln>
        </p:spPr>
      </p:sp>
      <p:sp>
        <p:nvSpPr>
          <p:cNvPr id="18" name="Text 16"/>
          <p:cNvSpPr/>
          <p:nvPr/>
        </p:nvSpPr>
        <p:spPr>
          <a:xfrm>
            <a:off x="4462272" y="3730752"/>
            <a:ext cx="310896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CLIENT / RESULT 5</a:t>
            </a:r>
            <a:endParaRPr lang="en-US" sz="1100" dirty="0"/>
          </a:p>
        </p:txBody>
      </p:sp>
      <p:sp>
        <p:nvSpPr>
          <p:cNvPr id="19" name="Text 17"/>
          <p:cNvSpPr/>
          <p:nvPr/>
        </p:nvSpPr>
        <p:spPr>
          <a:xfrm>
            <a:off x="4462272" y="4133088"/>
            <a:ext cx="3108960" cy="64008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[name]: [specific metric]</a:t>
            </a:r>
            <a:endParaRPr lang="en-US" sz="1250" dirty="0"/>
          </a:p>
        </p:txBody>
      </p:sp>
      <p:sp>
        <p:nvSpPr>
          <p:cNvPr id="20" name="Shape 18"/>
          <p:cNvSpPr/>
          <p:nvPr/>
        </p:nvSpPr>
        <p:spPr>
          <a:xfrm>
            <a:off x="7918704" y="3566160"/>
            <a:ext cx="3566160" cy="1417320"/>
          </a:xfrm>
          <a:prstGeom prst="roundRect">
            <a:avLst>
              <a:gd name="adj" fmla="val 5161"/>
            </a:avLst>
          </a:prstGeom>
          <a:solidFill>
            <a:srgbClr val="1A1A2E"/>
          </a:solidFill>
          <a:ln w="12700">
            <a:solidFill>
              <a:srgbClr val="C88A04"/>
            </a:solidFill>
            <a:prstDash val="dash"/>
          </a:ln>
        </p:spPr>
      </p:sp>
      <p:sp>
        <p:nvSpPr>
          <p:cNvPr id="21" name="Text 19"/>
          <p:cNvSpPr/>
          <p:nvPr/>
        </p:nvSpPr>
        <p:spPr>
          <a:xfrm>
            <a:off x="8147304" y="3730752"/>
            <a:ext cx="310896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 MANY MORE</a:t>
            </a:r>
            <a:endParaRPr lang="en-US" sz="1100" dirty="0"/>
          </a:p>
        </p:txBody>
      </p:sp>
      <p:sp>
        <p:nvSpPr>
          <p:cNvPr id="22" name="Text 20"/>
          <p:cNvSpPr/>
          <p:nvPr/>
        </p:nvSpPr>
        <p:spPr>
          <a:xfrm>
            <a:off x="8147304" y="4133088"/>
            <a:ext cx="3108960" cy="64008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[screenshot wall of reviews / results]</a:t>
            </a:r>
            <a:endParaRPr lang="en-US" sz="1250" dirty="0"/>
          </a:p>
        </p:txBody>
      </p:sp>
      <p:sp>
        <p:nvSpPr>
          <p:cNvPr id="23" name="Text 21"/>
          <p:cNvSpPr/>
          <p:nvPr/>
        </p:nvSpPr>
        <p:spPr>
          <a:xfrm>
            <a:off x="548640" y="5257800"/>
            <a:ext cx="11064240" cy="822960"/>
          </a:xfrm>
          <a:prstGeom prst="rect">
            <a:avLst/>
          </a:prstGeom>
          <a:noFill/>
          <a:ln/>
        </p:spPr>
        <p:txBody>
          <a:bodyPr wrap="square" lIns="0" tIns="0" rIns="0" bIns="0" rtlCol="0" anchor="t"/>
          <a:lstStyle/>
          <a:p>
            <a:pPr algn="l" indent="0" marL="0">
              <a:buNone/>
            </a:pPr>
            <a:r>
              <a:rPr lang="en-US" sz="1200" i="1" dirty="0">
                <a:solidFill>
                  <a:srgbClr val="9A9AB0"/>
                </a:solidFill>
                <a:latin typeface="Arial" pitchFamily="34" charset="0"/>
                <a:ea typeface="Arial" pitchFamily="34" charset="-122"/>
                <a:cs typeface="Arial" pitchFamily="34" charset="-120"/>
              </a:rPr>
              <a:t>Rapid fire. One result per slide in your real deck, or a few per slide. Use REAL numbers and REAL names (with permission). Variety matters: different sizes, different outcomes. If you have few results, use the ones you have plus a detailed case study.</a:t>
            </a:r>
            <a:endParaRPr lang="en-US" sz="1200" dirty="0"/>
          </a:p>
        </p:txBody>
      </p:sp>
      <p:sp>
        <p:nvSpPr>
          <p:cNvPr id="24" name="Text 22"/>
          <p:cNvSpPr/>
          <p:nvPr/>
        </p:nvSpPr>
        <p:spPr>
          <a:xfrm>
            <a:off x="548640" y="6446520"/>
            <a:ext cx="11064240" cy="274320"/>
          </a:xfrm>
          <a:prstGeom prst="rect">
            <a:avLst/>
          </a:prstGeom>
          <a:noFill/>
          <a:ln/>
        </p:spPr>
        <p:txBody>
          <a:bodyPr wrap="square" rtlCol="0" anchor="ctr"/>
          <a:lstStyle/>
          <a:p>
            <a:pPr algn="l" indent="0" marL="0">
              <a:buNone/>
            </a:pPr>
            <a:r>
              <a:rPr lang="en-US" sz="900" dirty="0">
                <a:solidFill>
                  <a:srgbClr val="55556A"/>
                </a:solidFill>
                <a:latin typeface="Arial" pitchFamily="34" charset="0"/>
                <a:ea typeface="Arial" pitchFamily="34" charset="-122"/>
                <a:cs typeface="Arial" pitchFamily="34" charset="-120"/>
              </a:rPr>
              <a:t>TEU  ·  THE DEMO CALL DECK TEMPLATE  ·  fill every [bracket] with your own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384048"/>
            <a:ext cx="4572000" cy="274320"/>
          </a:xfrm>
          <a:prstGeom prst="rect">
            <a:avLst/>
          </a:prstGeom>
          <a:noFill/>
          <a:ln/>
        </p:spPr>
        <p:txBody>
          <a:bodyPr wrap="square" rtlCol="0" anchor="ctr"/>
          <a:lstStyle/>
          <a:p>
            <a:pPr indent="0" marL="0">
              <a:buNone/>
            </a:pPr>
            <a:r>
              <a:rPr lang="en-US" sz="1100" b="1" spc="300" kern="0" dirty="0">
                <a:solidFill>
                  <a:srgbClr val="F5B942"/>
                </a:solidFill>
                <a:latin typeface="Arial" pitchFamily="34" charset="0"/>
                <a:ea typeface="Arial" pitchFamily="34" charset="-122"/>
                <a:cs typeface="Arial" pitchFamily="34" charset="-120"/>
              </a:rPr>
              <a:t>PHASE 5 / 12</a:t>
            </a:r>
            <a:endParaRPr lang="en-US" sz="1100" dirty="0"/>
          </a:p>
        </p:txBody>
      </p:sp>
      <p:sp>
        <p:nvSpPr>
          <p:cNvPr id="3" name="Text 1"/>
          <p:cNvSpPr/>
          <p:nvPr/>
        </p:nvSpPr>
        <p:spPr>
          <a:xfrm>
            <a:off x="548640" y="658368"/>
            <a:ext cx="10972800" cy="365760"/>
          </a:xfrm>
          <a:prstGeom prst="rect">
            <a:avLst/>
          </a:prstGeom>
          <a:noFill/>
          <a:ln/>
        </p:spPr>
        <p:txBody>
          <a:bodyPr wrap="square" rtlCol="0" anchor="ctr"/>
          <a:lstStyle/>
          <a:p>
            <a:pPr indent="0" marL="0">
              <a:buNone/>
            </a:pPr>
            <a:r>
              <a:rPr lang="en-US" sz="1300" i="1" dirty="0">
                <a:solidFill>
                  <a:srgbClr val="9A9AB0"/>
                </a:solidFill>
                <a:latin typeface="Arial" pitchFamily="34" charset="0"/>
                <a:ea typeface="Arial" pitchFamily="34" charset="-122"/>
                <a:cs typeface="Arial" pitchFamily="34" charset="-120"/>
              </a:rPr>
              <a:t>The Story  ·  one client, before to after (this is the emotional core)</a:t>
            </a:r>
            <a:endParaRPr lang="en-US" sz="1300" dirty="0"/>
          </a:p>
        </p:txBody>
      </p:sp>
      <p:sp>
        <p:nvSpPr>
          <p:cNvPr id="4" name="Text 2"/>
          <p:cNvSpPr/>
          <p:nvPr/>
        </p:nvSpPr>
        <p:spPr>
          <a:xfrm>
            <a:off x="548640" y="1188720"/>
            <a:ext cx="10972800" cy="640080"/>
          </a:xfrm>
          <a:prstGeom prst="rect">
            <a:avLst/>
          </a:prstGeom>
          <a:noFill/>
          <a:ln/>
        </p:spPr>
        <p:txBody>
          <a:bodyPr wrap="square" lIns="0" tIns="0" rIns="0" bIns="0" rtlCol="0" anchor="t"/>
          <a:lstStyle/>
          <a:p>
            <a:pPr algn="l" indent="0" marL="0">
              <a:buNone/>
            </a:pPr>
            <a:r>
              <a:rPr lang="en-US" sz="3000" b="1" dirty="0">
                <a:solidFill>
                  <a:srgbClr val="E8E8F2"/>
                </a:solidFill>
                <a:latin typeface="Arial" pitchFamily="34" charset="0"/>
                <a:ea typeface="Arial" pitchFamily="34" charset="-122"/>
                <a:cs typeface="Arial" pitchFamily="34" charset="-120"/>
              </a:rPr>
              <a:t>Meet [client name]</a:t>
            </a:r>
            <a:endParaRPr lang="en-US" sz="3000" dirty="0"/>
          </a:p>
        </p:txBody>
      </p:sp>
      <p:sp>
        <p:nvSpPr>
          <p:cNvPr id="5" name="Shape 3"/>
          <p:cNvSpPr/>
          <p:nvPr/>
        </p:nvSpPr>
        <p:spPr>
          <a:xfrm>
            <a:off x="548640" y="2011680"/>
            <a:ext cx="3657600" cy="3291840"/>
          </a:xfrm>
          <a:prstGeom prst="roundRect">
            <a:avLst>
              <a:gd name="adj" fmla="val 2222"/>
            </a:avLst>
          </a:prstGeom>
          <a:solidFill>
            <a:srgbClr val="1A1A2E"/>
          </a:solidFill>
          <a:ln w="12700">
            <a:solidFill>
              <a:srgbClr val="C88A04"/>
            </a:solidFill>
            <a:prstDash val="dash"/>
          </a:ln>
        </p:spPr>
      </p:sp>
      <p:sp>
        <p:nvSpPr>
          <p:cNvPr id="6" name="Text 4"/>
          <p:cNvSpPr/>
          <p:nvPr/>
        </p:nvSpPr>
        <p:spPr>
          <a:xfrm>
            <a:off x="777240" y="2176272"/>
            <a:ext cx="320040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BEFORE</a:t>
            </a:r>
            <a:endParaRPr lang="en-US" sz="1100" dirty="0"/>
          </a:p>
        </p:txBody>
      </p:sp>
      <p:sp>
        <p:nvSpPr>
          <p:cNvPr id="7" name="Text 5"/>
          <p:cNvSpPr/>
          <p:nvPr/>
        </p:nvSpPr>
        <p:spPr>
          <a:xfrm>
            <a:off x="777240" y="2578608"/>
            <a:ext cx="3200400" cy="251460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[What their situation looked like. The empty calendar, the stress, the thing that kept them up at night.]</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[What they tried that did not work.]</a:t>
            </a:r>
            <a:endParaRPr lang="en-US" sz="1250" dirty="0"/>
          </a:p>
        </p:txBody>
      </p:sp>
      <p:sp>
        <p:nvSpPr>
          <p:cNvPr id="8" name="Shape 6"/>
          <p:cNvSpPr/>
          <p:nvPr/>
        </p:nvSpPr>
        <p:spPr>
          <a:xfrm>
            <a:off x="4343400" y="2011680"/>
            <a:ext cx="3657600" cy="3291840"/>
          </a:xfrm>
          <a:prstGeom prst="roundRect">
            <a:avLst>
              <a:gd name="adj" fmla="val 2222"/>
            </a:avLst>
          </a:prstGeom>
          <a:solidFill>
            <a:srgbClr val="1A1A2E"/>
          </a:solidFill>
          <a:ln w="12700">
            <a:solidFill>
              <a:srgbClr val="C88A04"/>
            </a:solidFill>
            <a:prstDash val="dash"/>
          </a:ln>
        </p:spPr>
      </p:sp>
      <p:sp>
        <p:nvSpPr>
          <p:cNvPr id="9" name="Text 7"/>
          <p:cNvSpPr/>
          <p:nvPr/>
        </p:nvSpPr>
        <p:spPr>
          <a:xfrm>
            <a:off x="4572000" y="2176272"/>
            <a:ext cx="320040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THE STRUGGLE</a:t>
            </a:r>
            <a:endParaRPr lang="en-US" sz="1100" dirty="0"/>
          </a:p>
        </p:txBody>
      </p:sp>
      <p:sp>
        <p:nvSpPr>
          <p:cNvPr id="10" name="Text 8"/>
          <p:cNvSpPr/>
          <p:nvPr/>
        </p:nvSpPr>
        <p:spPr>
          <a:xfrm>
            <a:off x="4572000" y="2578608"/>
            <a:ext cx="3200400" cy="251460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[The emotional low point. Working nights and weekends. Crossing fingers at month end. Nearly giving up.]</a:t>
            </a:r>
            <a:endParaRPr lang="en-US" sz="1250" dirty="0"/>
          </a:p>
        </p:txBody>
      </p:sp>
      <p:sp>
        <p:nvSpPr>
          <p:cNvPr id="11" name="Shape 9"/>
          <p:cNvSpPr/>
          <p:nvPr/>
        </p:nvSpPr>
        <p:spPr>
          <a:xfrm>
            <a:off x="8138160" y="2011680"/>
            <a:ext cx="3474720" cy="3291840"/>
          </a:xfrm>
          <a:prstGeom prst="roundRect">
            <a:avLst>
              <a:gd name="adj" fmla="val 2222"/>
            </a:avLst>
          </a:prstGeom>
          <a:solidFill>
            <a:srgbClr val="1A1A2E"/>
          </a:solidFill>
          <a:ln w="12700">
            <a:solidFill>
              <a:srgbClr val="C88A04"/>
            </a:solidFill>
            <a:prstDash val="dash"/>
          </a:ln>
        </p:spPr>
      </p:sp>
      <p:sp>
        <p:nvSpPr>
          <p:cNvPr id="12" name="Text 10"/>
          <p:cNvSpPr/>
          <p:nvPr/>
        </p:nvSpPr>
        <p:spPr>
          <a:xfrm>
            <a:off x="8366760" y="2176272"/>
            <a:ext cx="301752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AFTER</a:t>
            </a:r>
            <a:endParaRPr lang="en-US" sz="1100" dirty="0"/>
          </a:p>
        </p:txBody>
      </p:sp>
      <p:sp>
        <p:nvSpPr>
          <p:cNvPr id="13" name="Text 11"/>
          <p:cNvSpPr/>
          <p:nvPr/>
        </p:nvSpPr>
        <p:spPr>
          <a:xfrm>
            <a:off x="8366760" y="2578608"/>
            <a:ext cx="3017520" cy="251460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[What their life looks like now. The new problem is a GOOD problem: too many customers to handle.]</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[End on a real quote from them if you have one.]</a:t>
            </a:r>
            <a:endParaRPr lang="en-US" sz="1250" dirty="0"/>
          </a:p>
        </p:txBody>
      </p:sp>
      <p:sp>
        <p:nvSpPr>
          <p:cNvPr id="14" name="Text 12"/>
          <p:cNvSpPr/>
          <p:nvPr/>
        </p:nvSpPr>
        <p:spPr>
          <a:xfrm>
            <a:off x="548640" y="5486400"/>
            <a:ext cx="11064240" cy="731520"/>
          </a:xfrm>
          <a:prstGeom prst="rect">
            <a:avLst/>
          </a:prstGeom>
          <a:noFill/>
          <a:ln/>
        </p:spPr>
        <p:txBody>
          <a:bodyPr wrap="square" lIns="0" tIns="0" rIns="0" bIns="0" rtlCol="0" anchor="t"/>
          <a:lstStyle/>
          <a:p>
            <a:pPr algn="l" indent="0" marL="0">
              <a:buNone/>
            </a:pPr>
            <a:r>
              <a:rPr lang="en-US" sz="1200" i="1" dirty="0">
                <a:solidFill>
                  <a:srgbClr val="9A9AB0"/>
                </a:solidFill>
                <a:latin typeface="Arial" pitchFamily="34" charset="0"/>
                <a:ea typeface="Arial" pitchFamily="34" charset="-122"/>
                <a:cs typeface="Arial" pitchFamily="34" charset="-120"/>
              </a:rPr>
              <a:t>This is the slide that makes them FEEL it. Pick one client whose starting point matches your prospect's starting point. Take them low, then high. The bigger the contrast, the stronger the close.</a:t>
            </a:r>
            <a:endParaRPr lang="en-US" sz="1200" dirty="0"/>
          </a:p>
        </p:txBody>
      </p:sp>
      <p:sp>
        <p:nvSpPr>
          <p:cNvPr id="15" name="Text 13"/>
          <p:cNvSpPr/>
          <p:nvPr/>
        </p:nvSpPr>
        <p:spPr>
          <a:xfrm>
            <a:off x="548640" y="6446520"/>
            <a:ext cx="11064240" cy="274320"/>
          </a:xfrm>
          <a:prstGeom prst="rect">
            <a:avLst/>
          </a:prstGeom>
          <a:noFill/>
          <a:ln/>
        </p:spPr>
        <p:txBody>
          <a:bodyPr wrap="square" rtlCol="0" anchor="ctr"/>
          <a:lstStyle/>
          <a:p>
            <a:pPr algn="l" indent="0" marL="0">
              <a:buNone/>
            </a:pPr>
            <a:r>
              <a:rPr lang="en-US" sz="900" dirty="0">
                <a:solidFill>
                  <a:srgbClr val="55556A"/>
                </a:solidFill>
                <a:latin typeface="Arial" pitchFamily="34" charset="0"/>
                <a:ea typeface="Arial" pitchFamily="34" charset="-122"/>
                <a:cs typeface="Arial" pitchFamily="34" charset="-120"/>
              </a:rPr>
              <a:t>TEU  ·  THE DEMO CALL DECK TEMPLATE  ·  fill every [bracket] with your own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384048"/>
            <a:ext cx="4572000" cy="274320"/>
          </a:xfrm>
          <a:prstGeom prst="rect">
            <a:avLst/>
          </a:prstGeom>
          <a:noFill/>
          <a:ln/>
        </p:spPr>
        <p:txBody>
          <a:bodyPr wrap="square" rtlCol="0" anchor="ctr"/>
          <a:lstStyle/>
          <a:p>
            <a:pPr indent="0" marL="0">
              <a:buNone/>
            </a:pPr>
            <a:r>
              <a:rPr lang="en-US" sz="1100" b="1" spc="300" kern="0" dirty="0">
                <a:solidFill>
                  <a:srgbClr val="F5B942"/>
                </a:solidFill>
                <a:latin typeface="Arial" pitchFamily="34" charset="0"/>
                <a:ea typeface="Arial" pitchFamily="34" charset="-122"/>
                <a:cs typeface="Arial" pitchFamily="34" charset="-120"/>
              </a:rPr>
              <a:t>PHASE 6 / 12</a:t>
            </a:r>
            <a:endParaRPr lang="en-US" sz="1100" dirty="0"/>
          </a:p>
        </p:txBody>
      </p:sp>
      <p:sp>
        <p:nvSpPr>
          <p:cNvPr id="3" name="Text 1"/>
          <p:cNvSpPr/>
          <p:nvPr/>
        </p:nvSpPr>
        <p:spPr>
          <a:xfrm>
            <a:off x="548640" y="658368"/>
            <a:ext cx="10972800" cy="365760"/>
          </a:xfrm>
          <a:prstGeom prst="rect">
            <a:avLst/>
          </a:prstGeom>
          <a:noFill/>
          <a:ln/>
        </p:spPr>
        <p:txBody>
          <a:bodyPr wrap="square" rtlCol="0" anchor="ctr"/>
          <a:lstStyle/>
          <a:p>
            <a:pPr indent="0" marL="0">
              <a:buNone/>
            </a:pPr>
            <a:r>
              <a:rPr lang="en-US" sz="1300" i="1" dirty="0">
                <a:solidFill>
                  <a:srgbClr val="9A9AB0"/>
                </a:solidFill>
                <a:latin typeface="Arial" pitchFamily="34" charset="0"/>
                <a:ea typeface="Arial" pitchFamily="34" charset="-122"/>
                <a:cs typeface="Arial" pitchFamily="34" charset="-120"/>
              </a:rPr>
              <a:t>The Mechanism  ·  now show HOW it actually works</a:t>
            </a:r>
            <a:endParaRPr lang="en-US" sz="1300" dirty="0"/>
          </a:p>
        </p:txBody>
      </p:sp>
      <p:sp>
        <p:nvSpPr>
          <p:cNvPr id="4" name="Text 2"/>
          <p:cNvSpPr/>
          <p:nvPr/>
        </p:nvSpPr>
        <p:spPr>
          <a:xfrm>
            <a:off x="548640" y="1280160"/>
            <a:ext cx="10972800" cy="640080"/>
          </a:xfrm>
          <a:prstGeom prst="rect">
            <a:avLst/>
          </a:prstGeom>
          <a:noFill/>
          <a:ln/>
        </p:spPr>
        <p:txBody>
          <a:bodyPr wrap="square" lIns="0" tIns="0" rIns="0" bIns="0" rtlCol="0" anchor="t"/>
          <a:lstStyle/>
          <a:p>
            <a:pPr algn="l" indent="0" marL="0">
              <a:buNone/>
            </a:pPr>
            <a:r>
              <a:rPr lang="en-US" sz="3000" b="1" dirty="0">
                <a:solidFill>
                  <a:srgbClr val="E8E8F2"/>
                </a:solidFill>
                <a:latin typeface="Arial" pitchFamily="34" charset="0"/>
                <a:ea typeface="Arial" pitchFamily="34" charset="-122"/>
                <a:cs typeface="Arial" pitchFamily="34" charset="-120"/>
              </a:rPr>
              <a:t>How the system actually works</a:t>
            </a:r>
            <a:endParaRPr lang="en-US" sz="3000" dirty="0"/>
          </a:p>
        </p:txBody>
      </p:sp>
      <p:sp>
        <p:nvSpPr>
          <p:cNvPr id="5" name="Shape 3"/>
          <p:cNvSpPr/>
          <p:nvPr/>
        </p:nvSpPr>
        <p:spPr>
          <a:xfrm>
            <a:off x="548640" y="2103120"/>
            <a:ext cx="2606040" cy="2651760"/>
          </a:xfrm>
          <a:prstGeom prst="roundRect">
            <a:avLst>
              <a:gd name="adj" fmla="val 2807"/>
            </a:avLst>
          </a:prstGeom>
          <a:solidFill>
            <a:srgbClr val="1A1A2E"/>
          </a:solidFill>
          <a:ln w="12700">
            <a:solidFill>
              <a:srgbClr val="C88A04"/>
            </a:solidFill>
            <a:prstDash val="dash"/>
          </a:ln>
        </p:spPr>
      </p:sp>
      <p:sp>
        <p:nvSpPr>
          <p:cNvPr id="6" name="Text 4"/>
          <p:cNvSpPr/>
          <p:nvPr/>
        </p:nvSpPr>
        <p:spPr>
          <a:xfrm>
            <a:off x="777240" y="2267712"/>
            <a:ext cx="214884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STEP 1</a:t>
            </a:r>
            <a:endParaRPr lang="en-US" sz="1100" dirty="0"/>
          </a:p>
        </p:txBody>
      </p:sp>
      <p:sp>
        <p:nvSpPr>
          <p:cNvPr id="7" name="Text 5"/>
          <p:cNvSpPr/>
          <p:nvPr/>
        </p:nvSpPr>
        <p:spPr>
          <a:xfrm>
            <a:off x="777240" y="2670048"/>
            <a:ext cx="2148840" cy="187452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[how you do the first stage, in plain words]</a:t>
            </a:r>
            <a:endParaRPr lang="en-US" sz="1250" dirty="0"/>
          </a:p>
        </p:txBody>
      </p:sp>
      <p:sp>
        <p:nvSpPr>
          <p:cNvPr id="8" name="Shape 6"/>
          <p:cNvSpPr/>
          <p:nvPr/>
        </p:nvSpPr>
        <p:spPr>
          <a:xfrm>
            <a:off x="3310128" y="2103120"/>
            <a:ext cx="2606040" cy="2651760"/>
          </a:xfrm>
          <a:prstGeom prst="roundRect">
            <a:avLst>
              <a:gd name="adj" fmla="val 2807"/>
            </a:avLst>
          </a:prstGeom>
          <a:solidFill>
            <a:srgbClr val="1A1A2E"/>
          </a:solidFill>
          <a:ln w="12700">
            <a:solidFill>
              <a:srgbClr val="C88A04"/>
            </a:solidFill>
            <a:prstDash val="dash"/>
          </a:ln>
        </p:spPr>
      </p:sp>
      <p:sp>
        <p:nvSpPr>
          <p:cNvPr id="9" name="Text 7"/>
          <p:cNvSpPr/>
          <p:nvPr/>
        </p:nvSpPr>
        <p:spPr>
          <a:xfrm>
            <a:off x="3538728" y="2267712"/>
            <a:ext cx="214884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STEP 2</a:t>
            </a:r>
            <a:endParaRPr lang="en-US" sz="1100" dirty="0"/>
          </a:p>
        </p:txBody>
      </p:sp>
      <p:sp>
        <p:nvSpPr>
          <p:cNvPr id="10" name="Text 8"/>
          <p:cNvSpPr/>
          <p:nvPr/>
        </p:nvSpPr>
        <p:spPr>
          <a:xfrm>
            <a:off x="3538728" y="2670048"/>
            <a:ext cx="2148840" cy="187452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[how you do the second stage]</a:t>
            </a:r>
            <a:endParaRPr lang="en-US" sz="1250" dirty="0"/>
          </a:p>
        </p:txBody>
      </p:sp>
      <p:sp>
        <p:nvSpPr>
          <p:cNvPr id="11" name="Shape 9"/>
          <p:cNvSpPr/>
          <p:nvPr/>
        </p:nvSpPr>
        <p:spPr>
          <a:xfrm>
            <a:off x="6071616" y="2103120"/>
            <a:ext cx="2606040" cy="2651760"/>
          </a:xfrm>
          <a:prstGeom prst="roundRect">
            <a:avLst>
              <a:gd name="adj" fmla="val 2807"/>
            </a:avLst>
          </a:prstGeom>
          <a:solidFill>
            <a:srgbClr val="1A1A2E"/>
          </a:solidFill>
          <a:ln w="12700">
            <a:solidFill>
              <a:srgbClr val="C88A04"/>
            </a:solidFill>
            <a:prstDash val="dash"/>
          </a:ln>
        </p:spPr>
      </p:sp>
      <p:sp>
        <p:nvSpPr>
          <p:cNvPr id="12" name="Text 10"/>
          <p:cNvSpPr/>
          <p:nvPr/>
        </p:nvSpPr>
        <p:spPr>
          <a:xfrm>
            <a:off x="6300216" y="2267712"/>
            <a:ext cx="214884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STEP 3</a:t>
            </a:r>
            <a:endParaRPr lang="en-US" sz="1100" dirty="0"/>
          </a:p>
        </p:txBody>
      </p:sp>
      <p:sp>
        <p:nvSpPr>
          <p:cNvPr id="13" name="Text 11"/>
          <p:cNvSpPr/>
          <p:nvPr/>
        </p:nvSpPr>
        <p:spPr>
          <a:xfrm>
            <a:off x="6300216" y="2670048"/>
            <a:ext cx="2148840" cy="187452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[how you do the third stage]</a:t>
            </a:r>
            <a:endParaRPr lang="en-US" sz="1250" dirty="0"/>
          </a:p>
        </p:txBody>
      </p:sp>
      <p:sp>
        <p:nvSpPr>
          <p:cNvPr id="14" name="Shape 12"/>
          <p:cNvSpPr/>
          <p:nvPr/>
        </p:nvSpPr>
        <p:spPr>
          <a:xfrm>
            <a:off x="8833104" y="2103120"/>
            <a:ext cx="2606040" cy="2651760"/>
          </a:xfrm>
          <a:prstGeom prst="roundRect">
            <a:avLst>
              <a:gd name="adj" fmla="val 2807"/>
            </a:avLst>
          </a:prstGeom>
          <a:solidFill>
            <a:srgbClr val="1A1A2E"/>
          </a:solidFill>
          <a:ln w="12700">
            <a:solidFill>
              <a:srgbClr val="C88A04"/>
            </a:solidFill>
            <a:prstDash val="dash"/>
          </a:ln>
        </p:spPr>
      </p:sp>
      <p:sp>
        <p:nvSpPr>
          <p:cNvPr id="15" name="Text 13"/>
          <p:cNvSpPr/>
          <p:nvPr/>
        </p:nvSpPr>
        <p:spPr>
          <a:xfrm>
            <a:off x="9061704" y="2267712"/>
            <a:ext cx="214884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STEP 4</a:t>
            </a:r>
            <a:endParaRPr lang="en-US" sz="1100" dirty="0"/>
          </a:p>
        </p:txBody>
      </p:sp>
      <p:sp>
        <p:nvSpPr>
          <p:cNvPr id="16" name="Text 14"/>
          <p:cNvSpPr/>
          <p:nvPr/>
        </p:nvSpPr>
        <p:spPr>
          <a:xfrm>
            <a:off x="9061704" y="2670048"/>
            <a:ext cx="2148840" cy="187452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[how you do the fourth stage]</a:t>
            </a:r>
            <a:endParaRPr lang="en-US" sz="1250" dirty="0"/>
          </a:p>
        </p:txBody>
      </p:sp>
      <p:sp>
        <p:nvSpPr>
          <p:cNvPr id="17" name="Text 15"/>
          <p:cNvSpPr/>
          <p:nvPr/>
        </p:nvSpPr>
        <p:spPr>
          <a:xfrm>
            <a:off x="548640" y="5029200"/>
            <a:ext cx="11064240" cy="822960"/>
          </a:xfrm>
          <a:prstGeom prst="rect">
            <a:avLst/>
          </a:prstGeom>
          <a:noFill/>
          <a:ln/>
        </p:spPr>
        <p:txBody>
          <a:bodyPr wrap="square" lIns="0" tIns="0" rIns="0" bIns="0" rtlCol="0" anchor="t"/>
          <a:lstStyle/>
          <a:p>
            <a:pPr algn="l" indent="0" marL="0">
              <a:buNone/>
            </a:pPr>
            <a:r>
              <a:rPr lang="en-US" sz="1200" i="1" dirty="0">
                <a:solidFill>
                  <a:srgbClr val="9A9AB0"/>
                </a:solidFill>
                <a:latin typeface="Arial" pitchFamily="34" charset="0"/>
                <a:ea typeface="Arial" pitchFamily="34" charset="-122"/>
                <a:cs typeface="Arial" pitchFamily="34" charset="-120"/>
              </a:rPr>
              <a:t>Same 4 steps from Phase 2, but now with the HOW. Enough detail that they believe it works, not so much that you drown them. They should think: 'that makes sense, and it sounds like a lot of work I do not want to do myself.'</a:t>
            </a:r>
            <a:endParaRPr lang="en-US" sz="1200" dirty="0"/>
          </a:p>
        </p:txBody>
      </p:sp>
      <p:sp>
        <p:nvSpPr>
          <p:cNvPr id="18" name="Text 16"/>
          <p:cNvSpPr/>
          <p:nvPr/>
        </p:nvSpPr>
        <p:spPr>
          <a:xfrm>
            <a:off x="548640" y="6446520"/>
            <a:ext cx="11064240" cy="274320"/>
          </a:xfrm>
          <a:prstGeom prst="rect">
            <a:avLst/>
          </a:prstGeom>
          <a:noFill/>
          <a:ln/>
        </p:spPr>
        <p:txBody>
          <a:bodyPr wrap="square" rtlCol="0" anchor="ctr"/>
          <a:lstStyle/>
          <a:p>
            <a:pPr algn="l" indent="0" marL="0">
              <a:buNone/>
            </a:pPr>
            <a:r>
              <a:rPr lang="en-US" sz="900" dirty="0">
                <a:solidFill>
                  <a:srgbClr val="55556A"/>
                </a:solidFill>
                <a:latin typeface="Arial" pitchFamily="34" charset="0"/>
                <a:ea typeface="Arial" pitchFamily="34" charset="-122"/>
                <a:cs typeface="Arial" pitchFamily="34" charset="-120"/>
              </a:rPr>
              <a:t>TEU  ·  THE DEMO CALL DECK TEMPLATE  ·  fill every [bracket] with your own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384048"/>
            <a:ext cx="4572000" cy="274320"/>
          </a:xfrm>
          <a:prstGeom prst="rect">
            <a:avLst/>
          </a:prstGeom>
          <a:noFill/>
          <a:ln/>
        </p:spPr>
        <p:txBody>
          <a:bodyPr wrap="square" rtlCol="0" anchor="ctr"/>
          <a:lstStyle/>
          <a:p>
            <a:pPr indent="0" marL="0">
              <a:buNone/>
            </a:pPr>
            <a:r>
              <a:rPr lang="en-US" sz="1100" b="1" spc="300" kern="0" dirty="0">
                <a:solidFill>
                  <a:srgbClr val="F5B942"/>
                </a:solidFill>
                <a:latin typeface="Arial" pitchFamily="34" charset="0"/>
                <a:ea typeface="Arial" pitchFamily="34" charset="-122"/>
                <a:cs typeface="Arial" pitchFamily="34" charset="-120"/>
              </a:rPr>
              <a:t>PHASE 7 / 12</a:t>
            </a:r>
            <a:endParaRPr lang="en-US" sz="1100" dirty="0"/>
          </a:p>
        </p:txBody>
      </p:sp>
      <p:sp>
        <p:nvSpPr>
          <p:cNvPr id="3" name="Text 1"/>
          <p:cNvSpPr/>
          <p:nvPr/>
        </p:nvSpPr>
        <p:spPr>
          <a:xfrm>
            <a:off x="548640" y="658368"/>
            <a:ext cx="10972800" cy="365760"/>
          </a:xfrm>
          <a:prstGeom prst="rect">
            <a:avLst/>
          </a:prstGeom>
          <a:noFill/>
          <a:ln/>
        </p:spPr>
        <p:txBody>
          <a:bodyPr wrap="square" rtlCol="0" anchor="ctr"/>
          <a:lstStyle/>
          <a:p>
            <a:pPr indent="0" marL="0">
              <a:buNone/>
            </a:pPr>
            <a:r>
              <a:rPr lang="en-US" sz="1300" i="1" dirty="0">
                <a:solidFill>
                  <a:srgbClr val="9A9AB0"/>
                </a:solidFill>
                <a:latin typeface="Arial" pitchFamily="34" charset="0"/>
                <a:ea typeface="Arial" pitchFamily="34" charset="-122"/>
                <a:cs typeface="Arial" pitchFamily="34" charset="-120"/>
              </a:rPr>
              <a:t>The Trial Close  ·  check the temperature BEFORE you price</a:t>
            </a:r>
            <a:endParaRPr lang="en-US" sz="1300" dirty="0"/>
          </a:p>
        </p:txBody>
      </p:sp>
      <p:sp>
        <p:nvSpPr>
          <p:cNvPr id="4" name="Text 2"/>
          <p:cNvSpPr/>
          <p:nvPr/>
        </p:nvSpPr>
        <p:spPr>
          <a:xfrm>
            <a:off x="914400" y="2377440"/>
            <a:ext cx="10332720" cy="1280160"/>
          </a:xfrm>
          <a:prstGeom prst="rect">
            <a:avLst/>
          </a:prstGeom>
          <a:noFill/>
          <a:ln/>
        </p:spPr>
        <p:txBody>
          <a:bodyPr wrap="square" rtlCol="0" anchor="ctr"/>
          <a:lstStyle/>
          <a:p>
            <a:pPr algn="ctr" indent="0" marL="0">
              <a:buNone/>
            </a:pPr>
            <a:r>
              <a:rPr lang="en-US" sz="3200" b="1" dirty="0">
                <a:solidFill>
                  <a:srgbClr val="E8E8F2"/>
                </a:solidFill>
                <a:latin typeface="Arial" pitchFamily="34" charset="0"/>
                <a:ea typeface="Arial" pitchFamily="34" charset="-122"/>
                <a:cs typeface="Arial" pitchFamily="34" charset="-120"/>
              </a:rPr>
              <a:t>Does this seem like the right solution for you?</a:t>
            </a:r>
            <a:endParaRPr lang="en-US" sz="3200" dirty="0"/>
          </a:p>
        </p:txBody>
      </p:sp>
      <p:sp>
        <p:nvSpPr>
          <p:cNvPr id="5" name="Text 3"/>
          <p:cNvSpPr/>
          <p:nvPr/>
        </p:nvSpPr>
        <p:spPr>
          <a:xfrm>
            <a:off x="914400" y="3749040"/>
            <a:ext cx="10332720" cy="457200"/>
          </a:xfrm>
          <a:prstGeom prst="rect">
            <a:avLst/>
          </a:prstGeom>
          <a:noFill/>
          <a:ln/>
        </p:spPr>
        <p:txBody>
          <a:bodyPr wrap="square" rtlCol="0" anchor="ctr"/>
          <a:lstStyle/>
          <a:p>
            <a:pPr algn="ctr" indent="0" marL="0">
              <a:buNone/>
            </a:pPr>
            <a:r>
              <a:rPr lang="en-US" sz="1500" i="1" dirty="0">
                <a:solidFill>
                  <a:srgbClr val="7DB4FF"/>
                </a:solidFill>
                <a:latin typeface="Arial" pitchFamily="34" charset="0"/>
                <a:ea typeface="Arial" pitchFamily="34" charset="-122"/>
                <a:cs typeface="Arial" pitchFamily="34" charset="-120"/>
              </a:rPr>
              <a:t>[Ask it exactly like this. Then stop talking and listen.]</a:t>
            </a:r>
            <a:endParaRPr lang="en-US" sz="1500" dirty="0"/>
          </a:p>
        </p:txBody>
      </p:sp>
      <p:sp>
        <p:nvSpPr>
          <p:cNvPr id="6" name="Text 4"/>
          <p:cNvSpPr/>
          <p:nvPr/>
        </p:nvSpPr>
        <p:spPr>
          <a:xfrm>
            <a:off x="914400" y="4754880"/>
            <a:ext cx="10332720" cy="822960"/>
          </a:xfrm>
          <a:prstGeom prst="rect">
            <a:avLst/>
          </a:prstGeom>
          <a:noFill/>
          <a:ln/>
        </p:spPr>
        <p:txBody>
          <a:bodyPr wrap="square" lIns="0" tIns="0" rIns="0" bIns="0" rtlCol="0" anchor="t"/>
          <a:lstStyle/>
          <a:p>
            <a:pPr algn="l" indent="0" marL="0">
              <a:buNone/>
            </a:pPr>
            <a:r>
              <a:rPr lang="en-US" sz="1300" i="1" dirty="0">
                <a:solidFill>
                  <a:srgbClr val="9A9AB0"/>
                </a:solidFill>
                <a:latin typeface="Arial" pitchFamily="34" charset="0"/>
                <a:ea typeface="Arial" pitchFamily="34" charset="-122"/>
                <a:cs typeface="Arial" pitchFamily="34" charset="-120"/>
              </a:rPr>
              <a:t>This one question does the heavy lifting. If they say yes, they have pre-agreed before seeing the price. If they hesitate, you surface the objection NOW, while you can still handle it, instead of after the number.</a:t>
            </a:r>
            <a:endParaRPr lang="en-US" sz="1300" dirty="0"/>
          </a:p>
        </p:txBody>
      </p:sp>
      <p:sp>
        <p:nvSpPr>
          <p:cNvPr id="7" name="Text 5"/>
          <p:cNvSpPr/>
          <p:nvPr/>
        </p:nvSpPr>
        <p:spPr>
          <a:xfrm>
            <a:off x="548640" y="6446520"/>
            <a:ext cx="11064240" cy="274320"/>
          </a:xfrm>
          <a:prstGeom prst="rect">
            <a:avLst/>
          </a:prstGeom>
          <a:noFill/>
          <a:ln/>
        </p:spPr>
        <p:txBody>
          <a:bodyPr wrap="square" rtlCol="0" anchor="ctr"/>
          <a:lstStyle/>
          <a:p>
            <a:pPr algn="l" indent="0" marL="0">
              <a:buNone/>
            </a:pPr>
            <a:r>
              <a:rPr lang="en-US" sz="900" dirty="0">
                <a:solidFill>
                  <a:srgbClr val="55556A"/>
                </a:solidFill>
                <a:latin typeface="Arial" pitchFamily="34" charset="0"/>
                <a:ea typeface="Arial" pitchFamily="34" charset="-122"/>
                <a:cs typeface="Arial" pitchFamily="34" charset="-120"/>
              </a:rPr>
              <a:t>TEU  ·  THE DEMO CALL DECK TEMPLATE  ·  fill every [bracket] with your own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384048"/>
            <a:ext cx="4572000" cy="274320"/>
          </a:xfrm>
          <a:prstGeom prst="rect">
            <a:avLst/>
          </a:prstGeom>
          <a:noFill/>
          <a:ln/>
        </p:spPr>
        <p:txBody>
          <a:bodyPr wrap="square" rtlCol="0" anchor="ctr"/>
          <a:lstStyle/>
          <a:p>
            <a:pPr indent="0" marL="0">
              <a:buNone/>
            </a:pPr>
            <a:r>
              <a:rPr lang="en-US" sz="1100" b="1" spc="300" kern="0" dirty="0">
                <a:solidFill>
                  <a:srgbClr val="F5B942"/>
                </a:solidFill>
                <a:latin typeface="Arial" pitchFamily="34" charset="0"/>
                <a:ea typeface="Arial" pitchFamily="34" charset="-122"/>
                <a:cs typeface="Arial" pitchFamily="34" charset="-120"/>
              </a:rPr>
              <a:t>PHASE 8 / 12</a:t>
            </a:r>
            <a:endParaRPr lang="en-US" sz="1100" dirty="0"/>
          </a:p>
        </p:txBody>
      </p:sp>
      <p:sp>
        <p:nvSpPr>
          <p:cNvPr id="3" name="Text 1"/>
          <p:cNvSpPr/>
          <p:nvPr/>
        </p:nvSpPr>
        <p:spPr>
          <a:xfrm>
            <a:off x="548640" y="658368"/>
            <a:ext cx="10972800" cy="365760"/>
          </a:xfrm>
          <a:prstGeom prst="rect">
            <a:avLst/>
          </a:prstGeom>
          <a:noFill/>
          <a:ln/>
        </p:spPr>
        <p:txBody>
          <a:bodyPr wrap="square" rtlCol="0" anchor="ctr"/>
          <a:lstStyle/>
          <a:p>
            <a:pPr indent="0" marL="0">
              <a:buNone/>
            </a:pPr>
            <a:r>
              <a:rPr lang="en-US" sz="1300" i="1" dirty="0">
                <a:solidFill>
                  <a:srgbClr val="9A9AB0"/>
                </a:solidFill>
                <a:latin typeface="Arial" pitchFamily="34" charset="0"/>
                <a:ea typeface="Arial" pitchFamily="34" charset="-122"/>
                <a:cs typeface="Arial" pitchFamily="34" charset="-120"/>
              </a:rPr>
              <a:t>More Proof  ·  peak their belief right before the ask</a:t>
            </a:r>
            <a:endParaRPr lang="en-US" sz="1300" dirty="0"/>
          </a:p>
        </p:txBody>
      </p:sp>
      <p:sp>
        <p:nvSpPr>
          <p:cNvPr id="4" name="Text 2"/>
          <p:cNvSpPr/>
          <p:nvPr/>
        </p:nvSpPr>
        <p:spPr>
          <a:xfrm>
            <a:off x="548640" y="1280160"/>
            <a:ext cx="10972800" cy="640080"/>
          </a:xfrm>
          <a:prstGeom prst="rect">
            <a:avLst/>
          </a:prstGeom>
          <a:noFill/>
          <a:ln/>
        </p:spPr>
        <p:txBody>
          <a:bodyPr wrap="square" lIns="0" tIns="0" rIns="0" bIns="0" rtlCol="0" anchor="t"/>
          <a:lstStyle/>
          <a:p>
            <a:pPr algn="l" indent="0" marL="0">
              <a:buNone/>
            </a:pPr>
            <a:r>
              <a:rPr lang="en-US" sz="2800" b="1" dirty="0">
                <a:solidFill>
                  <a:srgbClr val="E8E8F2"/>
                </a:solidFill>
                <a:latin typeface="Arial" pitchFamily="34" charset="0"/>
                <a:ea typeface="Arial" pitchFamily="34" charset="-122"/>
                <a:cs typeface="Arial" pitchFamily="34" charset="-120"/>
              </a:rPr>
              <a:t>One more result before we talk numbers</a:t>
            </a:r>
            <a:endParaRPr lang="en-US" sz="2800" dirty="0"/>
          </a:p>
        </p:txBody>
      </p:sp>
      <p:sp>
        <p:nvSpPr>
          <p:cNvPr id="5" name="Shape 3"/>
          <p:cNvSpPr/>
          <p:nvPr/>
        </p:nvSpPr>
        <p:spPr>
          <a:xfrm>
            <a:off x="548640" y="2194560"/>
            <a:ext cx="5394960" cy="2834640"/>
          </a:xfrm>
          <a:prstGeom prst="roundRect">
            <a:avLst>
              <a:gd name="adj" fmla="val 2581"/>
            </a:avLst>
          </a:prstGeom>
          <a:solidFill>
            <a:srgbClr val="1A1A2E"/>
          </a:solidFill>
          <a:ln w="12700">
            <a:solidFill>
              <a:srgbClr val="C88A04"/>
            </a:solidFill>
            <a:prstDash val="dash"/>
          </a:ln>
        </p:spPr>
      </p:sp>
      <p:sp>
        <p:nvSpPr>
          <p:cNvPr id="6" name="Text 4"/>
          <p:cNvSpPr/>
          <p:nvPr/>
        </p:nvSpPr>
        <p:spPr>
          <a:xfrm>
            <a:off x="777240" y="2359152"/>
            <a:ext cx="493776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YOUR STRONGEST RESULT</a:t>
            </a:r>
            <a:endParaRPr lang="en-US" sz="1100" dirty="0"/>
          </a:p>
        </p:txBody>
      </p:sp>
      <p:sp>
        <p:nvSpPr>
          <p:cNvPr id="7" name="Text 5"/>
          <p:cNvSpPr/>
          <p:nvPr/>
        </p:nvSpPr>
        <p:spPr>
          <a:xfrm>
            <a:off x="777240" y="2761488"/>
            <a:ext cx="4937760" cy="205740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[Your single most impressive or most relatable result. The one that makes the price feel small.]</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[Real numbers: leads, customers, revenue, cost per result.]</a:t>
            </a:r>
            <a:endParaRPr lang="en-US" sz="1250" dirty="0"/>
          </a:p>
        </p:txBody>
      </p:sp>
      <p:sp>
        <p:nvSpPr>
          <p:cNvPr id="8" name="Shape 6"/>
          <p:cNvSpPr/>
          <p:nvPr/>
        </p:nvSpPr>
        <p:spPr>
          <a:xfrm>
            <a:off x="6172200" y="2194560"/>
            <a:ext cx="5440680" cy="2834640"/>
          </a:xfrm>
          <a:prstGeom prst="roundRect">
            <a:avLst>
              <a:gd name="adj" fmla="val 2581"/>
            </a:avLst>
          </a:prstGeom>
          <a:solidFill>
            <a:srgbClr val="1A1A2E"/>
          </a:solidFill>
          <a:ln w="12700">
            <a:solidFill>
              <a:srgbClr val="C88A04"/>
            </a:solidFill>
            <a:prstDash val="dash"/>
          </a:ln>
        </p:spPr>
      </p:sp>
      <p:sp>
        <p:nvSpPr>
          <p:cNvPr id="9" name="Text 7"/>
          <p:cNvSpPr/>
          <p:nvPr/>
        </p:nvSpPr>
        <p:spPr>
          <a:xfrm>
            <a:off x="6400800" y="2359152"/>
            <a:ext cx="498348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THE LIFETIME VALUE ANGLE</a:t>
            </a:r>
            <a:endParaRPr lang="en-US" sz="1100" dirty="0"/>
          </a:p>
        </p:txBody>
      </p:sp>
      <p:sp>
        <p:nvSpPr>
          <p:cNvPr id="10" name="Text 8"/>
          <p:cNvSpPr/>
          <p:nvPr/>
        </p:nvSpPr>
        <p:spPr>
          <a:xfrm>
            <a:off x="6400800" y="2761488"/>
            <a:ext cx="4983480" cy="205740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[Remind them one customer is worth [X] over time, so the return dwarfs the investment. Make the math obvious.]</a:t>
            </a:r>
            <a:endParaRPr lang="en-US" sz="1250" dirty="0"/>
          </a:p>
        </p:txBody>
      </p:sp>
      <p:sp>
        <p:nvSpPr>
          <p:cNvPr id="11" name="Text 9"/>
          <p:cNvSpPr/>
          <p:nvPr/>
        </p:nvSpPr>
        <p:spPr>
          <a:xfrm>
            <a:off x="548640" y="5303520"/>
            <a:ext cx="11064240" cy="640080"/>
          </a:xfrm>
          <a:prstGeom prst="rect">
            <a:avLst/>
          </a:prstGeom>
          <a:noFill/>
          <a:ln/>
        </p:spPr>
        <p:txBody>
          <a:bodyPr wrap="square" lIns="0" tIns="0" rIns="0" bIns="0" rtlCol="0" anchor="t"/>
          <a:lstStyle/>
          <a:p>
            <a:pPr algn="l" indent="0" marL="0">
              <a:buNone/>
            </a:pPr>
            <a:r>
              <a:rPr lang="en-US" sz="1200" i="1" dirty="0">
                <a:solidFill>
                  <a:srgbClr val="9A9AB0"/>
                </a:solidFill>
                <a:latin typeface="Arial" pitchFamily="34" charset="0"/>
                <a:ea typeface="Arial" pitchFamily="34" charset="-122"/>
                <a:cs typeface="Arial" pitchFamily="34" charset="-120"/>
              </a:rPr>
              <a:t>You place proof right before the offer on purpose. Belief is highest here. This is where they go from interested to wanting it.</a:t>
            </a:r>
            <a:endParaRPr lang="en-US" sz="1200" dirty="0"/>
          </a:p>
        </p:txBody>
      </p:sp>
      <p:sp>
        <p:nvSpPr>
          <p:cNvPr id="12" name="Text 10"/>
          <p:cNvSpPr/>
          <p:nvPr/>
        </p:nvSpPr>
        <p:spPr>
          <a:xfrm>
            <a:off x="548640" y="6446520"/>
            <a:ext cx="11064240" cy="274320"/>
          </a:xfrm>
          <a:prstGeom prst="rect">
            <a:avLst/>
          </a:prstGeom>
          <a:noFill/>
          <a:ln/>
        </p:spPr>
        <p:txBody>
          <a:bodyPr wrap="square" rtlCol="0" anchor="ctr"/>
          <a:lstStyle/>
          <a:p>
            <a:pPr algn="l" indent="0" marL="0">
              <a:buNone/>
            </a:pPr>
            <a:r>
              <a:rPr lang="en-US" sz="900" dirty="0">
                <a:solidFill>
                  <a:srgbClr val="55556A"/>
                </a:solidFill>
                <a:latin typeface="Arial" pitchFamily="34" charset="0"/>
                <a:ea typeface="Arial" pitchFamily="34" charset="-122"/>
                <a:cs typeface="Arial" pitchFamily="34" charset="-120"/>
              </a:rPr>
              <a:t>TEU  ·  THE DEMO CALL DECK TEMPLATE  ·  fill every [bracket] with your own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384048"/>
            <a:ext cx="4572000" cy="274320"/>
          </a:xfrm>
          <a:prstGeom prst="rect">
            <a:avLst/>
          </a:prstGeom>
          <a:noFill/>
          <a:ln/>
        </p:spPr>
        <p:txBody>
          <a:bodyPr wrap="square" rtlCol="0" anchor="ctr"/>
          <a:lstStyle/>
          <a:p>
            <a:pPr indent="0" marL="0">
              <a:buNone/>
            </a:pPr>
            <a:r>
              <a:rPr lang="en-US" sz="1100" b="1" spc="300" kern="0" dirty="0">
                <a:solidFill>
                  <a:srgbClr val="F5B942"/>
                </a:solidFill>
                <a:latin typeface="Arial" pitchFamily="34" charset="0"/>
                <a:ea typeface="Arial" pitchFamily="34" charset="-122"/>
                <a:cs typeface="Arial" pitchFamily="34" charset="-120"/>
              </a:rPr>
              <a:t>PHASE 9 / 12</a:t>
            </a:r>
            <a:endParaRPr lang="en-US" sz="1100" dirty="0"/>
          </a:p>
        </p:txBody>
      </p:sp>
      <p:sp>
        <p:nvSpPr>
          <p:cNvPr id="3" name="Text 1"/>
          <p:cNvSpPr/>
          <p:nvPr/>
        </p:nvSpPr>
        <p:spPr>
          <a:xfrm>
            <a:off x="548640" y="658368"/>
            <a:ext cx="10972800" cy="365760"/>
          </a:xfrm>
          <a:prstGeom prst="rect">
            <a:avLst/>
          </a:prstGeom>
          <a:noFill/>
          <a:ln/>
        </p:spPr>
        <p:txBody>
          <a:bodyPr wrap="square" rtlCol="0" anchor="ctr"/>
          <a:lstStyle/>
          <a:p>
            <a:pPr indent="0" marL="0">
              <a:buNone/>
            </a:pPr>
            <a:r>
              <a:rPr lang="en-US" sz="1300" i="1" dirty="0">
                <a:solidFill>
                  <a:srgbClr val="9A9AB0"/>
                </a:solidFill>
                <a:latin typeface="Arial" pitchFamily="34" charset="0"/>
                <a:ea typeface="Arial" pitchFamily="34" charset="-122"/>
                <a:cs typeface="Arial" pitchFamily="34" charset="-120"/>
              </a:rPr>
              <a:t>The Offer  ·  present the investment, calmly</a:t>
            </a:r>
            <a:endParaRPr lang="en-US" sz="1300" dirty="0"/>
          </a:p>
        </p:txBody>
      </p:sp>
      <p:sp>
        <p:nvSpPr>
          <p:cNvPr id="4" name="Text 2"/>
          <p:cNvSpPr/>
          <p:nvPr/>
        </p:nvSpPr>
        <p:spPr>
          <a:xfrm>
            <a:off x="548640" y="1280160"/>
            <a:ext cx="10972800" cy="640080"/>
          </a:xfrm>
          <a:prstGeom prst="rect">
            <a:avLst/>
          </a:prstGeom>
          <a:noFill/>
          <a:ln/>
        </p:spPr>
        <p:txBody>
          <a:bodyPr wrap="square" lIns="0" tIns="0" rIns="0" bIns="0" rtlCol="0" anchor="t"/>
          <a:lstStyle/>
          <a:p>
            <a:pPr algn="l" indent="0" marL="0">
              <a:buNone/>
            </a:pPr>
            <a:r>
              <a:rPr lang="en-US" sz="3200" b="1" dirty="0">
                <a:solidFill>
                  <a:srgbClr val="E8E8F2"/>
                </a:solidFill>
                <a:latin typeface="Arial" pitchFamily="34" charset="0"/>
                <a:ea typeface="Arial" pitchFamily="34" charset="-122"/>
                <a:cs typeface="Arial" pitchFamily="34" charset="-120"/>
              </a:rPr>
              <a:t>Your investment</a:t>
            </a:r>
            <a:endParaRPr lang="en-US" sz="3200" dirty="0"/>
          </a:p>
        </p:txBody>
      </p:sp>
      <p:sp>
        <p:nvSpPr>
          <p:cNvPr id="5" name="Shape 3"/>
          <p:cNvSpPr/>
          <p:nvPr/>
        </p:nvSpPr>
        <p:spPr>
          <a:xfrm>
            <a:off x="548640" y="2194560"/>
            <a:ext cx="5394960" cy="2926080"/>
          </a:xfrm>
          <a:prstGeom prst="roundRect">
            <a:avLst>
              <a:gd name="adj" fmla="val 2500"/>
            </a:avLst>
          </a:prstGeom>
          <a:solidFill>
            <a:srgbClr val="1A1A2E"/>
          </a:solidFill>
          <a:ln w="12700">
            <a:solidFill>
              <a:srgbClr val="C88A04"/>
            </a:solidFill>
            <a:prstDash val="dash"/>
          </a:ln>
        </p:spPr>
      </p:sp>
      <p:sp>
        <p:nvSpPr>
          <p:cNvPr id="6" name="Text 4"/>
          <p:cNvSpPr/>
          <p:nvPr/>
        </p:nvSpPr>
        <p:spPr>
          <a:xfrm>
            <a:off x="777240" y="2359152"/>
            <a:ext cx="493776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PART 1: [what they invest in you]</a:t>
            </a:r>
            <a:endParaRPr lang="en-US" sz="1100" dirty="0"/>
          </a:p>
        </p:txBody>
      </p:sp>
      <p:sp>
        <p:nvSpPr>
          <p:cNvPr id="7" name="Text 5"/>
          <p:cNvSpPr/>
          <p:nvPr/>
        </p:nvSpPr>
        <p:spPr>
          <a:xfrm>
            <a:off x="777240" y="2761488"/>
            <a:ext cx="4937760" cy="214884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[Break your offer into its parts. What they get. Frame it as an investment that returns, never a cost.]</a:t>
            </a:r>
            <a:endParaRPr lang="en-US" sz="1250" dirty="0"/>
          </a:p>
        </p:txBody>
      </p:sp>
      <p:sp>
        <p:nvSpPr>
          <p:cNvPr id="8" name="Shape 6"/>
          <p:cNvSpPr/>
          <p:nvPr/>
        </p:nvSpPr>
        <p:spPr>
          <a:xfrm>
            <a:off x="6172200" y="2194560"/>
            <a:ext cx="5440680" cy="2926080"/>
          </a:xfrm>
          <a:prstGeom prst="roundRect">
            <a:avLst>
              <a:gd name="adj" fmla="val 2500"/>
            </a:avLst>
          </a:prstGeom>
          <a:solidFill>
            <a:srgbClr val="1A1A2E"/>
          </a:solidFill>
          <a:ln w="12700">
            <a:solidFill>
              <a:srgbClr val="C88A04"/>
            </a:solidFill>
            <a:prstDash val="dash"/>
          </a:ln>
        </p:spPr>
      </p:sp>
      <p:sp>
        <p:nvSpPr>
          <p:cNvPr id="9" name="Text 7"/>
          <p:cNvSpPr/>
          <p:nvPr/>
        </p:nvSpPr>
        <p:spPr>
          <a:xfrm>
            <a:off x="6400800" y="2359152"/>
            <a:ext cx="498348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PART 2: [the other part, e.g. tools/ad spend]</a:t>
            </a:r>
            <a:endParaRPr lang="en-US" sz="1100" dirty="0"/>
          </a:p>
        </p:txBody>
      </p:sp>
      <p:sp>
        <p:nvSpPr>
          <p:cNvPr id="10" name="Text 8"/>
          <p:cNvSpPr/>
          <p:nvPr/>
        </p:nvSpPr>
        <p:spPr>
          <a:xfrm>
            <a:off x="6400800" y="2761488"/>
            <a:ext cx="4983480" cy="214884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[If there is a second cost they carry directly, name it here so there are no surprises later.]</a:t>
            </a:r>
            <a:endParaRPr lang="en-US" sz="1250" dirty="0"/>
          </a:p>
        </p:txBody>
      </p:sp>
      <p:sp>
        <p:nvSpPr>
          <p:cNvPr id="11" name="Text 9"/>
          <p:cNvSpPr/>
          <p:nvPr/>
        </p:nvSpPr>
        <p:spPr>
          <a:xfrm>
            <a:off x="548640" y="5394960"/>
            <a:ext cx="11064240" cy="731520"/>
          </a:xfrm>
          <a:prstGeom prst="rect">
            <a:avLst/>
          </a:prstGeom>
          <a:noFill/>
          <a:ln/>
        </p:spPr>
        <p:txBody>
          <a:bodyPr wrap="square" lIns="0" tIns="0" rIns="0" bIns="0" rtlCol="0" anchor="t"/>
          <a:lstStyle/>
          <a:p>
            <a:pPr algn="l" indent="0" marL="0">
              <a:buNone/>
            </a:pPr>
            <a:r>
              <a:rPr lang="en-US" sz="1200" i="1" dirty="0">
                <a:solidFill>
                  <a:srgbClr val="9A9AB0"/>
                </a:solidFill>
                <a:latin typeface="Arial" pitchFamily="34" charset="0"/>
                <a:ea typeface="Arial" pitchFamily="34" charset="-122"/>
                <a:cs typeface="Arial" pitchFamily="34" charset="-120"/>
              </a:rPr>
              <a:t>Say the number calmly, then STOP talking. The silence after the price is where the sale is made or lost. Do not fill it. Call it an investment, never a price.</a:t>
            </a:r>
            <a:endParaRPr lang="en-US" sz="1200" dirty="0"/>
          </a:p>
        </p:txBody>
      </p:sp>
      <p:sp>
        <p:nvSpPr>
          <p:cNvPr id="12" name="Text 10"/>
          <p:cNvSpPr/>
          <p:nvPr/>
        </p:nvSpPr>
        <p:spPr>
          <a:xfrm>
            <a:off x="548640" y="6446520"/>
            <a:ext cx="11064240" cy="274320"/>
          </a:xfrm>
          <a:prstGeom prst="rect">
            <a:avLst/>
          </a:prstGeom>
          <a:noFill/>
          <a:ln/>
        </p:spPr>
        <p:txBody>
          <a:bodyPr wrap="square" rtlCol="0" anchor="ctr"/>
          <a:lstStyle/>
          <a:p>
            <a:pPr algn="l" indent="0" marL="0">
              <a:buNone/>
            </a:pPr>
            <a:r>
              <a:rPr lang="en-US" sz="900" dirty="0">
                <a:solidFill>
                  <a:srgbClr val="55556A"/>
                </a:solidFill>
                <a:latin typeface="Arial" pitchFamily="34" charset="0"/>
                <a:ea typeface="Arial" pitchFamily="34" charset="-122"/>
                <a:cs typeface="Arial" pitchFamily="34" charset="-120"/>
              </a:rPr>
              <a:t>TEU  ·  THE DEMO CALL DECK TEMPLATE  ·  fill every [bracket] with your own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384048"/>
            <a:ext cx="4572000" cy="274320"/>
          </a:xfrm>
          <a:prstGeom prst="rect">
            <a:avLst/>
          </a:prstGeom>
          <a:noFill/>
          <a:ln/>
        </p:spPr>
        <p:txBody>
          <a:bodyPr wrap="square" rtlCol="0" anchor="ctr"/>
          <a:lstStyle/>
          <a:p>
            <a:pPr indent="0" marL="0">
              <a:buNone/>
            </a:pPr>
            <a:r>
              <a:rPr lang="en-US" sz="1100" b="1" spc="300" kern="0" dirty="0">
                <a:solidFill>
                  <a:srgbClr val="F5B942"/>
                </a:solidFill>
                <a:latin typeface="Arial" pitchFamily="34" charset="0"/>
                <a:ea typeface="Arial" pitchFamily="34" charset="-122"/>
                <a:cs typeface="Arial" pitchFamily="34" charset="-120"/>
              </a:rPr>
              <a:t>PHASE 10 / 12</a:t>
            </a:r>
            <a:endParaRPr lang="en-US" sz="1100" dirty="0"/>
          </a:p>
        </p:txBody>
      </p:sp>
      <p:sp>
        <p:nvSpPr>
          <p:cNvPr id="3" name="Text 1"/>
          <p:cNvSpPr/>
          <p:nvPr/>
        </p:nvSpPr>
        <p:spPr>
          <a:xfrm>
            <a:off x="548640" y="658368"/>
            <a:ext cx="10972800" cy="365760"/>
          </a:xfrm>
          <a:prstGeom prst="rect">
            <a:avLst/>
          </a:prstGeom>
          <a:noFill/>
          <a:ln/>
        </p:spPr>
        <p:txBody>
          <a:bodyPr wrap="square" rtlCol="0" anchor="ctr"/>
          <a:lstStyle/>
          <a:p>
            <a:pPr indent="0" marL="0">
              <a:buNone/>
            </a:pPr>
            <a:r>
              <a:rPr lang="en-US" sz="1300" i="1" dirty="0">
                <a:solidFill>
                  <a:srgbClr val="9A9AB0"/>
                </a:solidFill>
                <a:latin typeface="Arial" pitchFamily="34" charset="0"/>
                <a:ea typeface="Arial" pitchFamily="34" charset="-122"/>
                <a:cs typeface="Arial" pitchFamily="34" charset="-120"/>
              </a:rPr>
              <a:t>The Bonus  ·  the surprise that tips them over</a:t>
            </a:r>
            <a:endParaRPr lang="en-US" sz="1300" dirty="0"/>
          </a:p>
        </p:txBody>
      </p:sp>
      <p:sp>
        <p:nvSpPr>
          <p:cNvPr id="4" name="Text 2"/>
          <p:cNvSpPr/>
          <p:nvPr/>
        </p:nvSpPr>
        <p:spPr>
          <a:xfrm>
            <a:off x="548640" y="1463040"/>
            <a:ext cx="10972800" cy="731520"/>
          </a:xfrm>
          <a:prstGeom prst="rect">
            <a:avLst/>
          </a:prstGeom>
          <a:noFill/>
          <a:ln/>
        </p:spPr>
        <p:txBody>
          <a:bodyPr wrap="square" lIns="0" tIns="0" rIns="0" bIns="0" rtlCol="0" anchor="t"/>
          <a:lstStyle/>
          <a:p>
            <a:pPr algn="l" indent="0" marL="0">
              <a:buNone/>
            </a:pPr>
            <a:r>
              <a:rPr lang="en-US" sz="3400" b="1" dirty="0">
                <a:solidFill>
                  <a:srgbClr val="F5B942"/>
                </a:solidFill>
                <a:latin typeface="Arial" pitchFamily="34" charset="0"/>
                <a:ea typeface="Arial" pitchFamily="34" charset="-122"/>
                <a:cs typeface="Arial" pitchFamily="34" charset="-120"/>
              </a:rPr>
              <a:t>One more thing...</a:t>
            </a:r>
            <a:endParaRPr lang="en-US" sz="3400" dirty="0"/>
          </a:p>
        </p:txBody>
      </p:sp>
      <p:sp>
        <p:nvSpPr>
          <p:cNvPr id="5" name="Shape 3"/>
          <p:cNvSpPr/>
          <p:nvPr/>
        </p:nvSpPr>
        <p:spPr>
          <a:xfrm>
            <a:off x="548640" y="2468880"/>
            <a:ext cx="11064240" cy="2286000"/>
          </a:xfrm>
          <a:prstGeom prst="roundRect">
            <a:avLst>
              <a:gd name="adj" fmla="val 3200"/>
            </a:avLst>
          </a:prstGeom>
          <a:solidFill>
            <a:srgbClr val="1A1A2E"/>
          </a:solidFill>
          <a:ln w="12700">
            <a:solidFill>
              <a:srgbClr val="C88A04"/>
            </a:solidFill>
            <a:prstDash val="dash"/>
          </a:ln>
        </p:spPr>
      </p:sp>
      <p:sp>
        <p:nvSpPr>
          <p:cNvPr id="6" name="Text 4"/>
          <p:cNvSpPr/>
          <p:nvPr/>
        </p:nvSpPr>
        <p:spPr>
          <a:xfrm>
            <a:off x="777240" y="2633472"/>
            <a:ext cx="1060704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YOUR BONUS</a:t>
            </a:r>
            <a:endParaRPr lang="en-US" sz="1100" dirty="0"/>
          </a:p>
        </p:txBody>
      </p:sp>
      <p:sp>
        <p:nvSpPr>
          <p:cNvPr id="7" name="Text 5"/>
          <p:cNvSpPr/>
          <p:nvPr/>
        </p:nvSpPr>
        <p:spPr>
          <a:xfrm>
            <a:off x="777240" y="3035808"/>
            <a:ext cx="10607040" cy="150876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[Add a bonus they were not expecting. Something high value to you that is low cost to deliver. Reveal it AFTER the price so it feels like a gift, not a discount.]</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[State the value of the bonus so they feel the extra weight.]</a:t>
            </a:r>
            <a:endParaRPr lang="en-US" sz="1250" dirty="0"/>
          </a:p>
        </p:txBody>
      </p:sp>
      <p:sp>
        <p:nvSpPr>
          <p:cNvPr id="8" name="Text 6"/>
          <p:cNvSpPr/>
          <p:nvPr/>
        </p:nvSpPr>
        <p:spPr>
          <a:xfrm>
            <a:off x="548640" y="5029200"/>
            <a:ext cx="11064240" cy="731520"/>
          </a:xfrm>
          <a:prstGeom prst="rect">
            <a:avLst/>
          </a:prstGeom>
          <a:noFill/>
          <a:ln/>
        </p:spPr>
        <p:txBody>
          <a:bodyPr wrap="square" lIns="0" tIns="0" rIns="0" bIns="0" rtlCol="0" anchor="t"/>
          <a:lstStyle/>
          <a:p>
            <a:pPr algn="l" indent="0" marL="0">
              <a:buNone/>
            </a:pPr>
            <a:r>
              <a:rPr lang="en-US" sz="1200" i="1" dirty="0">
                <a:solidFill>
                  <a:srgbClr val="9A9AB0"/>
                </a:solidFill>
                <a:latin typeface="Arial" pitchFamily="34" charset="0"/>
                <a:ea typeface="Arial" pitchFamily="34" charset="-122"/>
                <a:cs typeface="Arial" pitchFamily="34" charset="-120"/>
              </a:rPr>
              <a:t>A well-placed bonus after the price reframes the whole offer. It moves someone on the fence to yes without you dropping the price.</a:t>
            </a:r>
            <a:endParaRPr lang="en-US" sz="1200" dirty="0"/>
          </a:p>
        </p:txBody>
      </p:sp>
      <p:sp>
        <p:nvSpPr>
          <p:cNvPr id="9" name="Text 7"/>
          <p:cNvSpPr/>
          <p:nvPr/>
        </p:nvSpPr>
        <p:spPr>
          <a:xfrm>
            <a:off x="548640" y="6446520"/>
            <a:ext cx="11064240" cy="274320"/>
          </a:xfrm>
          <a:prstGeom prst="rect">
            <a:avLst/>
          </a:prstGeom>
          <a:noFill/>
          <a:ln/>
        </p:spPr>
        <p:txBody>
          <a:bodyPr wrap="square" rtlCol="0" anchor="ctr"/>
          <a:lstStyle/>
          <a:p>
            <a:pPr algn="l" indent="0" marL="0">
              <a:buNone/>
            </a:pPr>
            <a:r>
              <a:rPr lang="en-US" sz="900" dirty="0">
                <a:solidFill>
                  <a:srgbClr val="55556A"/>
                </a:solidFill>
                <a:latin typeface="Arial" pitchFamily="34" charset="0"/>
                <a:ea typeface="Arial" pitchFamily="34" charset="-122"/>
                <a:cs typeface="Arial" pitchFamily="34" charset="-120"/>
              </a:rPr>
              <a:t>TEU  ·  THE DEMO CALL DECK TEMPLATE  ·  fill every [bracket] with your own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384048"/>
            <a:ext cx="4572000" cy="274320"/>
          </a:xfrm>
          <a:prstGeom prst="rect">
            <a:avLst/>
          </a:prstGeom>
          <a:noFill/>
          <a:ln/>
        </p:spPr>
        <p:txBody>
          <a:bodyPr wrap="square" rtlCol="0" anchor="ctr"/>
          <a:lstStyle/>
          <a:p>
            <a:pPr indent="0" marL="0">
              <a:buNone/>
            </a:pPr>
            <a:r>
              <a:rPr lang="en-US" sz="1100" b="1" spc="300" kern="0" dirty="0">
                <a:solidFill>
                  <a:srgbClr val="F5B942"/>
                </a:solidFill>
                <a:latin typeface="Arial" pitchFamily="34" charset="0"/>
                <a:ea typeface="Arial" pitchFamily="34" charset="-122"/>
                <a:cs typeface="Arial" pitchFamily="34" charset="-120"/>
              </a:rPr>
              <a:t>PHASE 11 / 12</a:t>
            </a:r>
            <a:endParaRPr lang="en-US" sz="1100" dirty="0"/>
          </a:p>
        </p:txBody>
      </p:sp>
      <p:sp>
        <p:nvSpPr>
          <p:cNvPr id="3" name="Text 1"/>
          <p:cNvSpPr/>
          <p:nvPr/>
        </p:nvSpPr>
        <p:spPr>
          <a:xfrm>
            <a:off x="548640" y="658368"/>
            <a:ext cx="10972800" cy="365760"/>
          </a:xfrm>
          <a:prstGeom prst="rect">
            <a:avLst/>
          </a:prstGeom>
          <a:noFill/>
          <a:ln/>
        </p:spPr>
        <p:txBody>
          <a:bodyPr wrap="square" rtlCol="0" anchor="ctr"/>
          <a:lstStyle/>
          <a:p>
            <a:pPr indent="0" marL="0">
              <a:buNone/>
            </a:pPr>
            <a:r>
              <a:rPr lang="en-US" sz="1300" i="1" dirty="0">
                <a:solidFill>
                  <a:srgbClr val="9A9AB0"/>
                </a:solidFill>
                <a:latin typeface="Arial" pitchFamily="34" charset="0"/>
                <a:ea typeface="Arial" pitchFamily="34" charset="-122"/>
                <a:cs typeface="Arial" pitchFamily="34" charset="-120"/>
              </a:rPr>
              <a:t>The Path + Risk Reversal  ·  remove the fear</a:t>
            </a:r>
            <a:endParaRPr lang="en-US" sz="1300" dirty="0"/>
          </a:p>
        </p:txBody>
      </p:sp>
      <p:sp>
        <p:nvSpPr>
          <p:cNvPr id="4" name="Text 2"/>
          <p:cNvSpPr/>
          <p:nvPr/>
        </p:nvSpPr>
        <p:spPr>
          <a:xfrm>
            <a:off x="548640" y="1280160"/>
            <a:ext cx="10972800" cy="640080"/>
          </a:xfrm>
          <a:prstGeom prst="rect">
            <a:avLst/>
          </a:prstGeom>
          <a:noFill/>
          <a:ln/>
        </p:spPr>
        <p:txBody>
          <a:bodyPr wrap="square" lIns="0" tIns="0" rIns="0" bIns="0" rtlCol="0" anchor="t"/>
          <a:lstStyle/>
          <a:p>
            <a:pPr algn="l" indent="0" marL="0">
              <a:buNone/>
            </a:pPr>
            <a:r>
              <a:rPr lang="en-US" sz="2800" b="1" dirty="0">
                <a:solidFill>
                  <a:srgbClr val="E8E8F2"/>
                </a:solidFill>
                <a:latin typeface="Arial" pitchFamily="34" charset="0"/>
                <a:ea typeface="Arial" pitchFamily="34" charset="-122"/>
                <a:cs typeface="Arial" pitchFamily="34" charset="-120"/>
              </a:rPr>
              <a:t>How to get started, 100% risk free</a:t>
            </a:r>
            <a:endParaRPr lang="en-US" sz="2800" dirty="0"/>
          </a:p>
        </p:txBody>
      </p:sp>
      <p:sp>
        <p:nvSpPr>
          <p:cNvPr id="5" name="Shape 3"/>
          <p:cNvSpPr/>
          <p:nvPr/>
        </p:nvSpPr>
        <p:spPr>
          <a:xfrm>
            <a:off x="548640" y="2103120"/>
            <a:ext cx="5394960" cy="3017520"/>
          </a:xfrm>
          <a:prstGeom prst="roundRect">
            <a:avLst>
              <a:gd name="adj" fmla="val 2424"/>
            </a:avLst>
          </a:prstGeom>
          <a:solidFill>
            <a:srgbClr val="1A1A2E"/>
          </a:solidFill>
          <a:ln w="12700">
            <a:solidFill>
              <a:srgbClr val="C88A04"/>
            </a:solidFill>
            <a:prstDash val="dash"/>
          </a:ln>
        </p:spPr>
      </p:sp>
      <p:sp>
        <p:nvSpPr>
          <p:cNvPr id="6" name="Text 4"/>
          <p:cNvSpPr/>
          <p:nvPr/>
        </p:nvSpPr>
        <p:spPr>
          <a:xfrm>
            <a:off x="777240" y="2267712"/>
            <a:ext cx="493776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THE SIMPLE PATH</a:t>
            </a:r>
            <a:endParaRPr lang="en-US" sz="1100" dirty="0"/>
          </a:p>
        </p:txBody>
      </p:sp>
      <p:sp>
        <p:nvSpPr>
          <p:cNvPr id="7" name="Text 5"/>
          <p:cNvSpPr/>
          <p:nvPr/>
        </p:nvSpPr>
        <p:spPr>
          <a:xfrm>
            <a:off x="777240" y="2670048"/>
            <a:ext cx="4937760" cy="224028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[Lay out the first 1 to 3 steps to begin. Make starting feel easy and obvious.]</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[Step 1: ...]</a:t>
            </a: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[Step 2: ...]</a:t>
            </a:r>
            <a:endParaRPr lang="en-US" sz="1250" dirty="0"/>
          </a:p>
        </p:txBody>
      </p:sp>
      <p:sp>
        <p:nvSpPr>
          <p:cNvPr id="8" name="Shape 6"/>
          <p:cNvSpPr/>
          <p:nvPr/>
        </p:nvSpPr>
        <p:spPr>
          <a:xfrm>
            <a:off x="6172200" y="2103120"/>
            <a:ext cx="5440680" cy="3017520"/>
          </a:xfrm>
          <a:prstGeom prst="roundRect">
            <a:avLst>
              <a:gd name="adj" fmla="val 2424"/>
            </a:avLst>
          </a:prstGeom>
          <a:solidFill>
            <a:srgbClr val="1A1A2E"/>
          </a:solidFill>
          <a:ln w="12700">
            <a:solidFill>
              <a:srgbClr val="C88A04"/>
            </a:solidFill>
            <a:prstDash val="dash"/>
          </a:ln>
        </p:spPr>
      </p:sp>
      <p:sp>
        <p:nvSpPr>
          <p:cNvPr id="9" name="Text 7"/>
          <p:cNvSpPr/>
          <p:nvPr/>
        </p:nvSpPr>
        <p:spPr>
          <a:xfrm>
            <a:off x="6400800" y="2267712"/>
            <a:ext cx="4983480" cy="320040"/>
          </a:xfrm>
          <a:prstGeom prst="rect">
            <a:avLst/>
          </a:prstGeom>
          <a:noFill/>
          <a:ln/>
        </p:spPr>
        <p:txBody>
          <a:bodyPr wrap="square" lIns="0" tIns="0" rIns="0" bIns="0" rtlCol="0" anchor="ctr"/>
          <a:lstStyle/>
          <a:p>
            <a:pPr indent="0" marL="0">
              <a:buNone/>
            </a:pPr>
            <a:r>
              <a:rPr lang="en-US" sz="1100" b="1" spc="200" kern="0" dirty="0">
                <a:solidFill>
                  <a:srgbClr val="F5B942"/>
                </a:solidFill>
                <a:latin typeface="Arial" pitchFamily="34" charset="0"/>
                <a:ea typeface="Arial" pitchFamily="34" charset="-122"/>
                <a:cs typeface="Arial" pitchFamily="34" charset="-120"/>
              </a:rPr>
              <a:t>YOUR GUARANTEE</a:t>
            </a:r>
            <a:endParaRPr lang="en-US" sz="1100" dirty="0"/>
          </a:p>
        </p:txBody>
      </p:sp>
      <p:sp>
        <p:nvSpPr>
          <p:cNvPr id="10" name="Text 8"/>
          <p:cNvSpPr/>
          <p:nvPr/>
        </p:nvSpPr>
        <p:spPr>
          <a:xfrm>
            <a:off x="6400800" y="2670048"/>
            <a:ext cx="4983480" cy="2240280"/>
          </a:xfrm>
          <a:prstGeom prst="rect">
            <a:avLst/>
          </a:prstGeom>
          <a:noFill/>
          <a:ln/>
        </p:spPr>
        <p:txBody>
          <a:bodyPr wrap="square" lIns="0" tIns="0" rIns="0" bIns="0" rtlCol="0" anchor="t"/>
          <a:lstStyle/>
          <a:p>
            <a:pPr indent="0" marL="0">
              <a:buNone/>
            </a:pPr>
            <a:r>
              <a:rPr lang="en-US" sz="1250" i="1" dirty="0">
                <a:solidFill>
                  <a:srgbClr val="7DB4FF"/>
                </a:solidFill>
                <a:latin typeface="Arial" pitchFamily="34" charset="0"/>
                <a:ea typeface="Arial" pitchFamily="34" charset="-122"/>
                <a:cs typeface="Arial" pitchFamily="34" charset="-120"/>
              </a:rPr>
              <a:t>[State the guarantee that removes their risk. It must be bigger than the fear of paying you.]</a:t>
            </a:r>
            <a:endParaRPr lang="en-US" sz="1250" dirty="0"/>
          </a:p>
          <a:p>
            <a:pPr indent="0" marL="0">
              <a:buNone/>
            </a:pPr>
            <a:endParaRPr lang="en-US" sz="1250" dirty="0"/>
          </a:p>
          <a:p>
            <a:pPr indent="0" marL="0">
              <a:buNone/>
            </a:pPr>
            <a:r>
              <a:rPr lang="en-US" sz="1250" i="1" dirty="0">
                <a:solidFill>
                  <a:srgbClr val="7DB4FF"/>
                </a:solidFill>
                <a:latin typeface="Arial" pitchFamily="34" charset="0"/>
                <a:ea typeface="Arial" pitchFamily="34" charset="-122"/>
                <a:cs typeface="Arial" pitchFamily="34" charset="-120"/>
              </a:rPr>
              <a:t>[Example shape: if you do not [outcome] by [time], then [what you do to make it right].]</a:t>
            </a:r>
            <a:endParaRPr lang="en-US" sz="1250" dirty="0"/>
          </a:p>
        </p:txBody>
      </p:sp>
      <p:sp>
        <p:nvSpPr>
          <p:cNvPr id="11" name="Text 9"/>
          <p:cNvSpPr/>
          <p:nvPr/>
        </p:nvSpPr>
        <p:spPr>
          <a:xfrm>
            <a:off x="548640" y="5394960"/>
            <a:ext cx="11064240" cy="731520"/>
          </a:xfrm>
          <a:prstGeom prst="rect">
            <a:avLst/>
          </a:prstGeom>
          <a:noFill/>
          <a:ln/>
        </p:spPr>
        <p:txBody>
          <a:bodyPr wrap="square" lIns="0" tIns="0" rIns="0" bIns="0" rtlCol="0" anchor="t"/>
          <a:lstStyle/>
          <a:p>
            <a:pPr algn="l" indent="0" marL="0">
              <a:buNone/>
            </a:pPr>
            <a:r>
              <a:rPr lang="en-US" sz="1200" i="1" dirty="0">
                <a:solidFill>
                  <a:srgbClr val="9A9AB0"/>
                </a:solidFill>
                <a:latin typeface="Arial" pitchFamily="34" charset="0"/>
                <a:ea typeface="Arial" pitchFamily="34" charset="-122"/>
                <a:cs typeface="Arial" pitchFamily="34" charset="-120"/>
              </a:rPr>
              <a:t>The guarantee is what carries the close. If they cannot really lose, saying yes gets a lot easier. Make it specific and make it bold.</a:t>
            </a:r>
            <a:endParaRPr lang="en-US" sz="1200" dirty="0"/>
          </a:p>
        </p:txBody>
      </p:sp>
      <p:sp>
        <p:nvSpPr>
          <p:cNvPr id="12" name="Text 10"/>
          <p:cNvSpPr/>
          <p:nvPr/>
        </p:nvSpPr>
        <p:spPr>
          <a:xfrm>
            <a:off x="548640" y="6446520"/>
            <a:ext cx="11064240" cy="274320"/>
          </a:xfrm>
          <a:prstGeom prst="rect">
            <a:avLst/>
          </a:prstGeom>
          <a:noFill/>
          <a:ln/>
        </p:spPr>
        <p:txBody>
          <a:bodyPr wrap="square" rtlCol="0" anchor="ctr"/>
          <a:lstStyle/>
          <a:p>
            <a:pPr algn="l" indent="0" marL="0">
              <a:buNone/>
            </a:pPr>
            <a:r>
              <a:rPr lang="en-US" sz="900" dirty="0">
                <a:solidFill>
                  <a:srgbClr val="55556A"/>
                </a:solidFill>
                <a:latin typeface="Arial" pitchFamily="34" charset="0"/>
                <a:ea typeface="Arial" pitchFamily="34" charset="-122"/>
                <a:cs typeface="Arial" pitchFamily="34" charset="-120"/>
              </a:rPr>
              <a:t>TEU  ·  THE DEMO CALL DECK TEMPLATE  ·  fill every [bracket] with your own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384048"/>
            <a:ext cx="4572000" cy="274320"/>
          </a:xfrm>
          <a:prstGeom prst="rect">
            <a:avLst/>
          </a:prstGeom>
          <a:noFill/>
          <a:ln/>
        </p:spPr>
        <p:txBody>
          <a:bodyPr wrap="square" rtlCol="0" anchor="ctr"/>
          <a:lstStyle/>
          <a:p>
            <a:pPr indent="0" marL="0">
              <a:buNone/>
            </a:pPr>
            <a:r>
              <a:rPr lang="en-US" sz="1100" b="1" spc="300" kern="0" dirty="0">
                <a:solidFill>
                  <a:srgbClr val="F5B942"/>
                </a:solidFill>
                <a:latin typeface="Arial" pitchFamily="34" charset="0"/>
                <a:ea typeface="Arial" pitchFamily="34" charset="-122"/>
                <a:cs typeface="Arial" pitchFamily="34" charset="-120"/>
              </a:rPr>
              <a:t>PHASE 12 / 12</a:t>
            </a:r>
            <a:endParaRPr lang="en-US" sz="1100" dirty="0"/>
          </a:p>
        </p:txBody>
      </p:sp>
      <p:sp>
        <p:nvSpPr>
          <p:cNvPr id="3" name="Text 1"/>
          <p:cNvSpPr/>
          <p:nvPr/>
        </p:nvSpPr>
        <p:spPr>
          <a:xfrm>
            <a:off x="548640" y="658368"/>
            <a:ext cx="10972800" cy="365760"/>
          </a:xfrm>
          <a:prstGeom prst="rect">
            <a:avLst/>
          </a:prstGeom>
          <a:noFill/>
          <a:ln/>
        </p:spPr>
        <p:txBody>
          <a:bodyPr wrap="square" rtlCol="0" anchor="ctr"/>
          <a:lstStyle/>
          <a:p>
            <a:pPr indent="0" marL="0">
              <a:buNone/>
            </a:pPr>
            <a:r>
              <a:rPr lang="en-US" sz="1300" i="1" dirty="0">
                <a:solidFill>
                  <a:srgbClr val="9A9AB0"/>
                </a:solidFill>
                <a:latin typeface="Arial" pitchFamily="34" charset="0"/>
                <a:ea typeface="Arial" pitchFamily="34" charset="-122"/>
                <a:cs typeface="Arial" pitchFamily="34" charset="-120"/>
              </a:rPr>
              <a:t>The Close  ·  ask for the decision</a:t>
            </a:r>
            <a:endParaRPr lang="en-US" sz="1300" dirty="0"/>
          </a:p>
        </p:txBody>
      </p:sp>
      <p:sp>
        <p:nvSpPr>
          <p:cNvPr id="4" name="Text 2"/>
          <p:cNvSpPr/>
          <p:nvPr/>
        </p:nvSpPr>
        <p:spPr>
          <a:xfrm>
            <a:off x="914400" y="2286000"/>
            <a:ext cx="10332720" cy="1188720"/>
          </a:xfrm>
          <a:prstGeom prst="rect">
            <a:avLst/>
          </a:prstGeom>
          <a:noFill/>
          <a:ln/>
        </p:spPr>
        <p:txBody>
          <a:bodyPr wrap="square" rtlCol="0" anchor="ctr"/>
          <a:lstStyle/>
          <a:p>
            <a:pPr algn="ctr" indent="0" marL="0">
              <a:buNone/>
            </a:pPr>
            <a:r>
              <a:rPr lang="en-US" sz="3400" b="1" dirty="0">
                <a:solidFill>
                  <a:srgbClr val="E8E8F2"/>
                </a:solidFill>
                <a:latin typeface="Arial" pitchFamily="34" charset="0"/>
                <a:ea typeface="Arial" pitchFamily="34" charset="-122"/>
                <a:cs typeface="Arial" pitchFamily="34" charset="-120"/>
              </a:rPr>
              <a:t>Are you ready to [their dream outcome]?</a:t>
            </a:r>
            <a:endParaRPr lang="en-US" sz="3400" dirty="0"/>
          </a:p>
        </p:txBody>
      </p:sp>
      <p:sp>
        <p:nvSpPr>
          <p:cNvPr id="5" name="Shape 3"/>
          <p:cNvSpPr/>
          <p:nvPr/>
        </p:nvSpPr>
        <p:spPr>
          <a:xfrm>
            <a:off x="4023360" y="3657600"/>
            <a:ext cx="4114800" cy="868680"/>
          </a:xfrm>
          <a:prstGeom prst="roundRect">
            <a:avLst>
              <a:gd name="adj" fmla="val 10526"/>
            </a:avLst>
          </a:prstGeom>
          <a:solidFill>
            <a:srgbClr val="F5B942"/>
          </a:solidFill>
          <a:ln/>
        </p:spPr>
      </p:sp>
      <p:sp>
        <p:nvSpPr>
          <p:cNvPr id="6" name="Text 4"/>
          <p:cNvSpPr/>
          <p:nvPr/>
        </p:nvSpPr>
        <p:spPr>
          <a:xfrm>
            <a:off x="4023360" y="3657600"/>
            <a:ext cx="4114800" cy="868680"/>
          </a:xfrm>
          <a:prstGeom prst="rect">
            <a:avLst/>
          </a:prstGeom>
          <a:noFill/>
          <a:ln/>
        </p:spPr>
        <p:txBody>
          <a:bodyPr wrap="square" lIns="0" tIns="0" rIns="0" bIns="0" rtlCol="0" anchor="ctr"/>
          <a:lstStyle/>
          <a:p>
            <a:pPr algn="ctr" indent="0" marL="0">
              <a:buNone/>
            </a:pPr>
            <a:r>
              <a:rPr lang="en-US" sz="1800" b="1" dirty="0">
                <a:solidFill>
                  <a:srgbClr val="12121F"/>
                </a:solidFill>
                <a:latin typeface="Arial" pitchFamily="34" charset="0"/>
                <a:ea typeface="Arial" pitchFamily="34" charset="-122"/>
                <a:cs typeface="Arial" pitchFamily="34" charset="-120"/>
              </a:rPr>
              <a:t>[YOUR CLEAR NEXT STEP]</a:t>
            </a:r>
            <a:endParaRPr lang="en-US" sz="1800" dirty="0"/>
          </a:p>
        </p:txBody>
      </p:sp>
      <p:sp>
        <p:nvSpPr>
          <p:cNvPr id="7" name="Text 5"/>
          <p:cNvSpPr/>
          <p:nvPr/>
        </p:nvSpPr>
        <p:spPr>
          <a:xfrm>
            <a:off x="914400" y="4937760"/>
            <a:ext cx="10332720" cy="822960"/>
          </a:xfrm>
          <a:prstGeom prst="rect">
            <a:avLst/>
          </a:prstGeom>
          <a:noFill/>
          <a:ln/>
        </p:spPr>
        <p:txBody>
          <a:bodyPr wrap="square" lIns="0" tIns="0" rIns="0" bIns="0" rtlCol="0" anchor="t"/>
          <a:lstStyle/>
          <a:p>
            <a:pPr algn="l" indent="0" marL="0">
              <a:buNone/>
            </a:pPr>
            <a:r>
              <a:rPr lang="en-US" sz="1300" i="1" dirty="0">
                <a:solidFill>
                  <a:srgbClr val="9A9AB0"/>
                </a:solidFill>
                <a:latin typeface="Arial" pitchFamily="34" charset="0"/>
                <a:ea typeface="Arial" pitchFamily="34" charset="-122"/>
                <a:cs typeface="Arial" pitchFamily="34" charset="-120"/>
              </a:rPr>
              <a:t>End with one clear, direct ask. Tell them exactly what happens next: sign here, pay here, book the onboarding. Do not end vague. Ask for the decision and then be quiet.</a:t>
            </a:r>
            <a:endParaRPr lang="en-US" sz="1300" dirty="0"/>
          </a:p>
        </p:txBody>
      </p:sp>
      <p:sp>
        <p:nvSpPr>
          <p:cNvPr id="8" name="Text 6"/>
          <p:cNvSpPr/>
          <p:nvPr/>
        </p:nvSpPr>
        <p:spPr>
          <a:xfrm>
            <a:off x="548640" y="6446520"/>
            <a:ext cx="11064240" cy="274320"/>
          </a:xfrm>
          <a:prstGeom prst="rect">
            <a:avLst/>
          </a:prstGeom>
          <a:noFill/>
          <a:ln/>
        </p:spPr>
        <p:txBody>
          <a:bodyPr wrap="square" rtlCol="0" anchor="ctr"/>
          <a:lstStyle/>
          <a:p>
            <a:pPr algn="l" indent="0" marL="0">
              <a:buNone/>
            </a:pPr>
            <a:r>
              <a:rPr lang="en-US" sz="900" dirty="0">
                <a:solidFill>
                  <a:srgbClr val="55556A"/>
                </a:solidFill>
                <a:latin typeface="Arial" pitchFamily="34" charset="0"/>
                <a:ea typeface="Arial" pitchFamily="34" charset="-122"/>
                <a:cs typeface="Arial" pitchFamily="34" charset="-120"/>
              </a:rPr>
              <a:t>TEU  ·  THE DEMO CALL DECK TEMPLATE  ·  fill every [bracket] with your own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21F"/>
        </a:solidFill>
      </p:bgPr>
    </p:bg>
    <p:spTree>
      <p:nvGrpSpPr>
        <p:cNvPr id="1" name=""/>
        <p:cNvGrpSpPr/>
        <p:nvPr/>
      </p:nvGrpSpPr>
      <p:grpSpPr>
        <a:xfrm>
          <a:off x="0" y="0"/>
          <a:ext cx="0" cy="0"/>
          <a:chOff x="0" y="0"/>
          <a:chExt cx="0" cy="0"/>
        </a:xfrm>
      </p:grpSpPr>
      <p:sp>
        <p:nvSpPr>
          <p:cNvPr id="2" name="Text 0"/>
          <p:cNvSpPr/>
          <p:nvPr/>
        </p:nvSpPr>
        <p:spPr>
          <a:xfrm>
            <a:off x="548640" y="457200"/>
            <a:ext cx="10972800" cy="548640"/>
          </a:xfrm>
          <a:prstGeom prst="rect">
            <a:avLst/>
          </a:prstGeom>
          <a:noFill/>
          <a:ln/>
        </p:spPr>
        <p:txBody>
          <a:bodyPr wrap="square" rtlCol="0" anchor="ctr"/>
          <a:lstStyle/>
          <a:p>
            <a:pPr indent="0" marL="0">
              <a:buNone/>
            </a:pPr>
            <a:r>
              <a:rPr lang="en-US" sz="2400" b="1" dirty="0">
                <a:solidFill>
                  <a:srgbClr val="E8E8F2"/>
                </a:solidFill>
                <a:latin typeface="Arial" pitchFamily="34" charset="0"/>
                <a:ea typeface="Arial" pitchFamily="34" charset="-122"/>
                <a:cs typeface="Arial" pitchFamily="34" charset="-120"/>
              </a:rPr>
              <a:t>The whole close, on one slide</a:t>
            </a:r>
            <a:endParaRPr lang="en-US" sz="2400" dirty="0"/>
          </a:p>
        </p:txBody>
      </p:sp>
      <p:sp>
        <p:nvSpPr>
          <p:cNvPr id="3" name="Shape 1"/>
          <p:cNvSpPr/>
          <p:nvPr/>
        </p:nvSpPr>
        <p:spPr>
          <a:xfrm>
            <a:off x="548640" y="1051560"/>
            <a:ext cx="3200400" cy="27432"/>
          </a:xfrm>
          <a:prstGeom prst="rect">
            <a:avLst/>
          </a:prstGeom>
          <a:solidFill>
            <a:srgbClr val="F5B942"/>
          </a:solidFill>
          <a:ln/>
        </p:spPr>
      </p:sp>
      <p:sp>
        <p:nvSpPr>
          <p:cNvPr id="4" name="Text 2"/>
          <p:cNvSpPr/>
          <p:nvPr/>
        </p:nvSpPr>
        <p:spPr>
          <a:xfrm>
            <a:off x="640080" y="1371600"/>
            <a:ext cx="5486400" cy="384048"/>
          </a:xfrm>
          <a:prstGeom prst="rect">
            <a:avLst/>
          </a:prstGeom>
          <a:noFill/>
          <a:ln/>
        </p:spPr>
        <p:txBody>
          <a:bodyPr wrap="square" lIns="0" tIns="0" rIns="0" bIns="0" rtlCol="0" anchor="ctr"/>
          <a:lstStyle/>
          <a:p>
            <a:pPr indent="0" marL="0">
              <a:buNone/>
            </a:pPr>
            <a:r>
              <a:rPr lang="en-US" sz="1400" dirty="0">
                <a:solidFill>
                  <a:srgbClr val="E8E8F2"/>
                </a:solidFill>
                <a:latin typeface="Arial" pitchFamily="34" charset="0"/>
                <a:ea typeface="Arial" pitchFamily="34" charset="-122"/>
                <a:cs typeface="Arial" pitchFamily="34" charset="-120"/>
              </a:rPr>
              <a:t>1. The Goal: state the dream outcome</a:t>
            </a:r>
            <a:endParaRPr lang="en-US" sz="1400" dirty="0"/>
          </a:p>
        </p:txBody>
      </p:sp>
      <p:sp>
        <p:nvSpPr>
          <p:cNvPr id="5" name="Text 3"/>
          <p:cNvSpPr/>
          <p:nvPr/>
        </p:nvSpPr>
        <p:spPr>
          <a:xfrm>
            <a:off x="640080" y="1792224"/>
            <a:ext cx="5486400" cy="384048"/>
          </a:xfrm>
          <a:prstGeom prst="rect">
            <a:avLst/>
          </a:prstGeom>
          <a:noFill/>
          <a:ln/>
        </p:spPr>
        <p:txBody>
          <a:bodyPr wrap="square" lIns="0" tIns="0" rIns="0" bIns="0" rtlCol="0" anchor="ctr"/>
          <a:lstStyle/>
          <a:p>
            <a:pPr indent="0" marL="0">
              <a:buNone/>
            </a:pPr>
            <a:r>
              <a:rPr lang="en-US" sz="1400" dirty="0">
                <a:solidFill>
                  <a:srgbClr val="E8E8F2"/>
                </a:solidFill>
                <a:latin typeface="Arial" pitchFamily="34" charset="0"/>
                <a:ea typeface="Arial" pitchFamily="34" charset="-122"/>
                <a:cs typeface="Arial" pitchFamily="34" charset="-120"/>
              </a:rPr>
              <a:t>2. The Method: the steps, high level</a:t>
            </a:r>
            <a:endParaRPr lang="en-US" sz="1400" dirty="0"/>
          </a:p>
        </p:txBody>
      </p:sp>
      <p:sp>
        <p:nvSpPr>
          <p:cNvPr id="6" name="Text 4"/>
          <p:cNvSpPr/>
          <p:nvPr/>
        </p:nvSpPr>
        <p:spPr>
          <a:xfrm>
            <a:off x="640080" y="2212848"/>
            <a:ext cx="5486400" cy="384048"/>
          </a:xfrm>
          <a:prstGeom prst="rect">
            <a:avLst/>
          </a:prstGeom>
          <a:noFill/>
          <a:ln/>
        </p:spPr>
        <p:txBody>
          <a:bodyPr wrap="square" lIns="0" tIns="0" rIns="0" bIns="0" rtlCol="0" anchor="ctr"/>
          <a:lstStyle/>
          <a:p>
            <a:pPr indent="0" marL="0">
              <a:buNone/>
            </a:pPr>
            <a:r>
              <a:rPr lang="en-US" sz="1400" dirty="0">
                <a:solidFill>
                  <a:srgbClr val="E8E8F2"/>
                </a:solidFill>
                <a:latin typeface="Arial" pitchFamily="34" charset="0"/>
                <a:ea typeface="Arial" pitchFamily="34" charset="-122"/>
                <a:cs typeface="Arial" pitchFamily="34" charset="-120"/>
              </a:rPr>
              <a:t>3. Authority: why listen to you</a:t>
            </a:r>
            <a:endParaRPr lang="en-US" sz="1400" dirty="0"/>
          </a:p>
        </p:txBody>
      </p:sp>
      <p:sp>
        <p:nvSpPr>
          <p:cNvPr id="7" name="Text 5"/>
          <p:cNvSpPr/>
          <p:nvPr/>
        </p:nvSpPr>
        <p:spPr>
          <a:xfrm>
            <a:off x="640080" y="2633472"/>
            <a:ext cx="5486400" cy="384048"/>
          </a:xfrm>
          <a:prstGeom prst="rect">
            <a:avLst/>
          </a:prstGeom>
          <a:noFill/>
          <a:ln/>
        </p:spPr>
        <p:txBody>
          <a:bodyPr wrap="square" lIns="0" tIns="0" rIns="0" bIns="0" rtlCol="0" anchor="ctr"/>
          <a:lstStyle/>
          <a:p>
            <a:pPr indent="0" marL="0">
              <a:buNone/>
            </a:pPr>
            <a:r>
              <a:rPr lang="en-US" sz="1400" dirty="0">
                <a:solidFill>
                  <a:srgbClr val="E8E8F2"/>
                </a:solidFill>
                <a:latin typeface="Arial" pitchFamily="34" charset="0"/>
                <a:ea typeface="Arial" pitchFamily="34" charset="-122"/>
                <a:cs typeface="Arial" pitchFamily="34" charset="-120"/>
              </a:rPr>
              <a:t>4. Proof Stack: many quick results</a:t>
            </a:r>
            <a:endParaRPr lang="en-US" sz="1400" dirty="0"/>
          </a:p>
        </p:txBody>
      </p:sp>
      <p:sp>
        <p:nvSpPr>
          <p:cNvPr id="8" name="Text 6"/>
          <p:cNvSpPr/>
          <p:nvPr/>
        </p:nvSpPr>
        <p:spPr>
          <a:xfrm>
            <a:off x="640080" y="3054096"/>
            <a:ext cx="5486400" cy="384048"/>
          </a:xfrm>
          <a:prstGeom prst="rect">
            <a:avLst/>
          </a:prstGeom>
          <a:noFill/>
          <a:ln/>
        </p:spPr>
        <p:txBody>
          <a:bodyPr wrap="square" lIns="0" tIns="0" rIns="0" bIns="0" rtlCol="0" anchor="ctr"/>
          <a:lstStyle/>
          <a:p>
            <a:pPr indent="0" marL="0">
              <a:buNone/>
            </a:pPr>
            <a:r>
              <a:rPr lang="en-US" sz="1400" dirty="0">
                <a:solidFill>
                  <a:srgbClr val="E8E8F2"/>
                </a:solidFill>
                <a:latin typeface="Arial" pitchFamily="34" charset="0"/>
                <a:ea typeface="Arial" pitchFamily="34" charset="-122"/>
                <a:cs typeface="Arial" pitchFamily="34" charset="-120"/>
              </a:rPr>
              <a:t>5. The Story: one before-to-after</a:t>
            </a:r>
            <a:endParaRPr lang="en-US" sz="1400" dirty="0"/>
          </a:p>
        </p:txBody>
      </p:sp>
      <p:sp>
        <p:nvSpPr>
          <p:cNvPr id="9" name="Text 7"/>
          <p:cNvSpPr/>
          <p:nvPr/>
        </p:nvSpPr>
        <p:spPr>
          <a:xfrm>
            <a:off x="640080" y="3474720"/>
            <a:ext cx="5486400" cy="384048"/>
          </a:xfrm>
          <a:prstGeom prst="rect">
            <a:avLst/>
          </a:prstGeom>
          <a:noFill/>
          <a:ln/>
        </p:spPr>
        <p:txBody>
          <a:bodyPr wrap="square" lIns="0" tIns="0" rIns="0" bIns="0" rtlCol="0" anchor="ctr"/>
          <a:lstStyle/>
          <a:p>
            <a:pPr indent="0" marL="0">
              <a:buNone/>
            </a:pPr>
            <a:r>
              <a:rPr lang="en-US" sz="1400" dirty="0">
                <a:solidFill>
                  <a:srgbClr val="E8E8F2"/>
                </a:solidFill>
                <a:latin typeface="Arial" pitchFamily="34" charset="0"/>
                <a:ea typeface="Arial" pitchFamily="34" charset="-122"/>
                <a:cs typeface="Arial" pitchFamily="34" charset="-120"/>
              </a:rPr>
              <a:t>6. The Mechanism: how it works</a:t>
            </a:r>
            <a:endParaRPr lang="en-US" sz="1400" dirty="0"/>
          </a:p>
        </p:txBody>
      </p:sp>
      <p:sp>
        <p:nvSpPr>
          <p:cNvPr id="10" name="Text 8"/>
          <p:cNvSpPr/>
          <p:nvPr/>
        </p:nvSpPr>
        <p:spPr>
          <a:xfrm>
            <a:off x="6309360" y="1371600"/>
            <a:ext cx="5486400" cy="384048"/>
          </a:xfrm>
          <a:prstGeom prst="rect">
            <a:avLst/>
          </a:prstGeom>
          <a:noFill/>
          <a:ln/>
        </p:spPr>
        <p:txBody>
          <a:bodyPr wrap="square" lIns="0" tIns="0" rIns="0" bIns="0" rtlCol="0" anchor="ctr"/>
          <a:lstStyle/>
          <a:p>
            <a:pPr indent="0" marL="0">
              <a:buNone/>
            </a:pPr>
            <a:r>
              <a:rPr lang="en-US" sz="1400" dirty="0">
                <a:solidFill>
                  <a:srgbClr val="E8E8F2"/>
                </a:solidFill>
                <a:latin typeface="Arial" pitchFamily="34" charset="0"/>
                <a:ea typeface="Arial" pitchFamily="34" charset="-122"/>
                <a:cs typeface="Arial" pitchFamily="34" charset="-120"/>
              </a:rPr>
              <a:t>7. Trial Close: 'is this right for you?'</a:t>
            </a:r>
            <a:endParaRPr lang="en-US" sz="1400" dirty="0"/>
          </a:p>
        </p:txBody>
      </p:sp>
      <p:sp>
        <p:nvSpPr>
          <p:cNvPr id="11" name="Text 9"/>
          <p:cNvSpPr/>
          <p:nvPr/>
        </p:nvSpPr>
        <p:spPr>
          <a:xfrm>
            <a:off x="6309360" y="1792224"/>
            <a:ext cx="5486400" cy="384048"/>
          </a:xfrm>
          <a:prstGeom prst="rect">
            <a:avLst/>
          </a:prstGeom>
          <a:noFill/>
          <a:ln/>
        </p:spPr>
        <p:txBody>
          <a:bodyPr wrap="square" lIns="0" tIns="0" rIns="0" bIns="0" rtlCol="0" anchor="ctr"/>
          <a:lstStyle/>
          <a:p>
            <a:pPr indent="0" marL="0">
              <a:buNone/>
            </a:pPr>
            <a:r>
              <a:rPr lang="en-US" sz="1400" dirty="0">
                <a:solidFill>
                  <a:srgbClr val="E8E8F2"/>
                </a:solidFill>
                <a:latin typeface="Arial" pitchFamily="34" charset="0"/>
                <a:ea typeface="Arial" pitchFamily="34" charset="-122"/>
                <a:cs typeface="Arial" pitchFamily="34" charset="-120"/>
              </a:rPr>
              <a:t>8. More Proof: peak the belief</a:t>
            </a:r>
            <a:endParaRPr lang="en-US" sz="1400" dirty="0"/>
          </a:p>
        </p:txBody>
      </p:sp>
      <p:sp>
        <p:nvSpPr>
          <p:cNvPr id="12" name="Text 10"/>
          <p:cNvSpPr/>
          <p:nvPr/>
        </p:nvSpPr>
        <p:spPr>
          <a:xfrm>
            <a:off x="6309360" y="2212848"/>
            <a:ext cx="5486400" cy="384048"/>
          </a:xfrm>
          <a:prstGeom prst="rect">
            <a:avLst/>
          </a:prstGeom>
          <a:noFill/>
          <a:ln/>
        </p:spPr>
        <p:txBody>
          <a:bodyPr wrap="square" lIns="0" tIns="0" rIns="0" bIns="0" rtlCol="0" anchor="ctr"/>
          <a:lstStyle/>
          <a:p>
            <a:pPr indent="0" marL="0">
              <a:buNone/>
            </a:pPr>
            <a:r>
              <a:rPr lang="en-US" sz="1400" dirty="0">
                <a:solidFill>
                  <a:srgbClr val="E8E8F2"/>
                </a:solidFill>
                <a:latin typeface="Arial" pitchFamily="34" charset="0"/>
                <a:ea typeface="Arial" pitchFamily="34" charset="-122"/>
                <a:cs typeface="Arial" pitchFamily="34" charset="-120"/>
              </a:rPr>
              <a:t>9. The Offer: the investment</a:t>
            </a:r>
            <a:endParaRPr lang="en-US" sz="1400" dirty="0"/>
          </a:p>
        </p:txBody>
      </p:sp>
      <p:sp>
        <p:nvSpPr>
          <p:cNvPr id="13" name="Text 11"/>
          <p:cNvSpPr/>
          <p:nvPr/>
        </p:nvSpPr>
        <p:spPr>
          <a:xfrm>
            <a:off x="6309360" y="2633472"/>
            <a:ext cx="5486400" cy="384048"/>
          </a:xfrm>
          <a:prstGeom prst="rect">
            <a:avLst/>
          </a:prstGeom>
          <a:noFill/>
          <a:ln/>
        </p:spPr>
        <p:txBody>
          <a:bodyPr wrap="square" lIns="0" tIns="0" rIns="0" bIns="0" rtlCol="0" anchor="ctr"/>
          <a:lstStyle/>
          <a:p>
            <a:pPr indent="0" marL="0">
              <a:buNone/>
            </a:pPr>
            <a:r>
              <a:rPr lang="en-US" sz="1400" dirty="0">
                <a:solidFill>
                  <a:srgbClr val="E8E8F2"/>
                </a:solidFill>
                <a:latin typeface="Arial" pitchFamily="34" charset="0"/>
                <a:ea typeface="Arial" pitchFamily="34" charset="-122"/>
                <a:cs typeface="Arial" pitchFamily="34" charset="-120"/>
              </a:rPr>
              <a:t>10. The Bonus: the surprise</a:t>
            </a:r>
            <a:endParaRPr lang="en-US" sz="1400" dirty="0"/>
          </a:p>
        </p:txBody>
      </p:sp>
      <p:sp>
        <p:nvSpPr>
          <p:cNvPr id="14" name="Text 12"/>
          <p:cNvSpPr/>
          <p:nvPr/>
        </p:nvSpPr>
        <p:spPr>
          <a:xfrm>
            <a:off x="6309360" y="3054096"/>
            <a:ext cx="5486400" cy="384048"/>
          </a:xfrm>
          <a:prstGeom prst="rect">
            <a:avLst/>
          </a:prstGeom>
          <a:noFill/>
          <a:ln/>
        </p:spPr>
        <p:txBody>
          <a:bodyPr wrap="square" lIns="0" tIns="0" rIns="0" bIns="0" rtlCol="0" anchor="ctr"/>
          <a:lstStyle/>
          <a:p>
            <a:pPr indent="0" marL="0">
              <a:buNone/>
            </a:pPr>
            <a:r>
              <a:rPr lang="en-US" sz="1400" dirty="0">
                <a:solidFill>
                  <a:srgbClr val="E8E8F2"/>
                </a:solidFill>
                <a:latin typeface="Arial" pitchFamily="34" charset="0"/>
                <a:ea typeface="Arial" pitchFamily="34" charset="-122"/>
                <a:cs typeface="Arial" pitchFamily="34" charset="-120"/>
              </a:rPr>
              <a:t>11. Path + Risk Reversal: the guarantee</a:t>
            </a:r>
            <a:endParaRPr lang="en-US" sz="1400" dirty="0"/>
          </a:p>
        </p:txBody>
      </p:sp>
      <p:sp>
        <p:nvSpPr>
          <p:cNvPr id="15" name="Text 13"/>
          <p:cNvSpPr/>
          <p:nvPr/>
        </p:nvSpPr>
        <p:spPr>
          <a:xfrm>
            <a:off x="6309360" y="3474720"/>
            <a:ext cx="5486400" cy="384048"/>
          </a:xfrm>
          <a:prstGeom prst="rect">
            <a:avLst/>
          </a:prstGeom>
          <a:noFill/>
          <a:ln/>
        </p:spPr>
        <p:txBody>
          <a:bodyPr wrap="square" lIns="0" tIns="0" rIns="0" bIns="0" rtlCol="0" anchor="ctr"/>
          <a:lstStyle/>
          <a:p>
            <a:pPr indent="0" marL="0">
              <a:buNone/>
            </a:pPr>
            <a:r>
              <a:rPr lang="en-US" sz="1400" dirty="0">
                <a:solidFill>
                  <a:srgbClr val="E8E8F2"/>
                </a:solidFill>
                <a:latin typeface="Arial" pitchFamily="34" charset="0"/>
                <a:ea typeface="Arial" pitchFamily="34" charset="-122"/>
                <a:cs typeface="Arial" pitchFamily="34" charset="-120"/>
              </a:rPr>
              <a:t>12. The Close: ask for the yes</a:t>
            </a:r>
            <a:endParaRPr lang="en-US" sz="1400" dirty="0"/>
          </a:p>
        </p:txBody>
      </p:sp>
      <p:sp>
        <p:nvSpPr>
          <p:cNvPr id="16" name="Text 14"/>
          <p:cNvSpPr/>
          <p:nvPr/>
        </p:nvSpPr>
        <p:spPr>
          <a:xfrm>
            <a:off x="640080" y="5852160"/>
            <a:ext cx="10972800" cy="640080"/>
          </a:xfrm>
          <a:prstGeom prst="rect">
            <a:avLst/>
          </a:prstGeom>
          <a:noFill/>
          <a:ln/>
        </p:spPr>
        <p:txBody>
          <a:bodyPr wrap="square" rtlCol="0" anchor="ctr"/>
          <a:lstStyle/>
          <a:p>
            <a:pPr indent="0" marL="0">
              <a:buNone/>
            </a:pPr>
            <a:r>
              <a:rPr lang="en-US" sz="1300" i="1" dirty="0">
                <a:solidFill>
                  <a:srgbClr val="F5B942"/>
                </a:solidFill>
                <a:latin typeface="Arial" pitchFamily="34" charset="0"/>
                <a:ea typeface="Arial" pitchFamily="34" charset="-122"/>
                <a:cs typeface="Arial" pitchFamily="34" charset="-120"/>
              </a:rPr>
              <a:t>Fill every bracket. Keep the order. This structure has closed millions in deals across every industry. Now make it yours.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Demo Call Deck Template</dc:title>
  <dc:subject>PptxGenJS Presentation</dc:subject>
  <dc:creator>TEU</dc:creator>
  <cp:lastModifiedBy>TEU</cp:lastModifiedBy>
  <cp:revision>1</cp:revision>
  <dcterms:created xsi:type="dcterms:W3CDTF">2026-07-04T10:54:07Z</dcterms:created>
  <dcterms:modified xsi:type="dcterms:W3CDTF">2026-07-04T10:54:07Z</dcterms:modified>
</cp:coreProperties>
</file>